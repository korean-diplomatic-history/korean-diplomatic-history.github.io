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67" r:id="rId3"/>
    <p:sldId id="268" r:id="rId4"/>
    <p:sldId id="256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o8rpuirLoru2WPb8KZAVgCqnH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81293"/>
  </p:normalViewPr>
  <p:slideViewPr>
    <p:cSldViewPr snapToGrid="0">
      <p:cViewPr varScale="1">
        <p:scale>
          <a:sx n="103" d="100"/>
          <a:sy n="103" d="100"/>
        </p:scale>
        <p:origin x="20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693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18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until19th century, world economy was polycentric. Until 1800, Asia was probably at the center of world economy. China, too, important </a:t>
            </a:r>
            <a:r>
              <a:rPr lang="en-US" dirty="0" err="1"/>
              <a:t>cetner</a:t>
            </a:r>
            <a:r>
              <a:rPr lang="en-US" dirty="0"/>
              <a:t> of technological innovation, population growth, export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living standard were not very different in China and Europe until 1800.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(2) local markets in eastern regions of China (Yangtze delta, Jiangsu province) had an efficient system that could match its European counterpart regions; (3) improved agricultural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techniques and irrigation systems were in place; and (4) both Chinese and European regions had to cope with Malthusian pressures.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7266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until19th century, world economy was polycentric. Until 1800, Asia was probably at the center of world economy. China, too, important </a:t>
            </a:r>
            <a:r>
              <a:rPr lang="en-US" dirty="0" err="1"/>
              <a:t>cetner</a:t>
            </a:r>
            <a:r>
              <a:rPr lang="en-US" dirty="0"/>
              <a:t> of technological innovation, population growth, export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living standard were not very different in China and Europe until 1800.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(2) local markets in eastern regions of China (Yangtze delta, Jiangsu province) had an efficient system that could match its European counterpart regions; (3) improved agricultural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techniques and irrigation systems were in place; and (4) both Chinese and European regions had to cope with Malthusian pressures.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until19th century, world economy was polycentric. Until 1800, Asia was probably at the center of world economy. China, too, important </a:t>
            </a:r>
            <a:r>
              <a:rPr lang="en-US" dirty="0" err="1"/>
              <a:t>cetner</a:t>
            </a:r>
            <a:r>
              <a:rPr lang="en-US" dirty="0"/>
              <a:t> of technological innovation, population growth, export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living standard were not very different in China and Europe until 1800.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(2) local markets in eastern regions of China (Yangtze delta, Jiangsu province) had an efficient system that could match its European counterpart regions; (3) improved agricultural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techniques and irrigation systems were in place; and (4) both Chinese and European regions had to cope with Malthusian pressures.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36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until19th century, world economy was polycentric. Until 1800, Asia was probably at the center of world economy. China, too, important </a:t>
            </a:r>
            <a:r>
              <a:rPr lang="en-US" dirty="0" err="1"/>
              <a:t>cetner</a:t>
            </a:r>
            <a:r>
              <a:rPr lang="en-US" dirty="0"/>
              <a:t> of technological innovation, population growth, export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living standard were not very different in China and Europe until 1800.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(2) local markets in eastern regions of China (Yangtze delta, Jiangsu province) had an efficient system that could match its European counterpart regions; (3) improved agricultural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techniques and irrigation systems were in place; and (4) both Chinese and European regions had to cope with Malthusian pressures.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6287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until19th century, world economy was polycentric. Until 1800, Asia was probably at the center of world economy. China, too, important </a:t>
            </a:r>
            <a:r>
              <a:rPr lang="en-US" dirty="0" err="1"/>
              <a:t>cetner</a:t>
            </a:r>
            <a:r>
              <a:rPr lang="en-US" dirty="0"/>
              <a:t> of technological innovation, population growth, export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living standard were not very different in China and Europe until 1800.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- (2) local markets in eastern regions of China (Yangtze delta, Jiangsu province) had an efficient system that could match its European counterpart regions; (3) improved agricultural</a:t>
            </a:r>
          </a:p>
          <a:p>
            <a:pPr marL="228600" lvl="0" indent="-228600">
              <a:lnSpc>
                <a:spcPct val="100000"/>
              </a:lnSpc>
              <a:buSzPts val="2800"/>
            </a:pPr>
            <a:r>
              <a:rPr lang="en-US" altLang="ko-Kore-US" dirty="0"/>
              <a:t>techniques and irrigation systems were in place; and (4) both Chinese and European regions had to cope with Malthusian pressures.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ko-Kore-US" altLang="en-US" dirty="0"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6487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9"/>
          <p:cNvSpPr txBox="1"/>
          <p:nvPr/>
        </p:nvSpPr>
        <p:spPr>
          <a:xfrm>
            <a:off x="3956539" y="4196862"/>
            <a:ext cx="10406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dfegegeg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826" y="1965382"/>
            <a:ext cx="9006348" cy="25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US" sz="4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Ch. 9. Post-Colonial Histories of International Relations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-172912" y="163830"/>
            <a:ext cx="2273158" cy="46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ko-KR" alt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한외사</a:t>
            </a:r>
            <a:r>
              <a:rPr lang="ko-KR" alt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12.15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822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Eurocentric histories of IR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Construction of History/IR as a body of knowledge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Disciplinary history IR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Dichotomy and teleology of modern/non-modern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dirty="0"/>
              <a:t>Erasure of non-Western subjects in history making</a:t>
            </a:r>
          </a:p>
          <a:p>
            <a:pPr marL="685800" lvl="1" indent="-228600">
              <a:lnSpc>
                <a:spcPct val="100000"/>
              </a:lnSpc>
              <a:buSzPts val="2800"/>
            </a:pPr>
            <a:r>
              <a:rPr lang="en-US" sz="2800" dirty="0" err="1"/>
              <a:t>Évolué</a:t>
            </a:r>
            <a:r>
              <a:rPr lang="en-US" sz="2800" dirty="0"/>
              <a:t>, Black Pacific(deep solidarity)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356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Questions?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Construction of History/IR as a body of knowledge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New teleology from Korean diplomatic history?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Korea diplomatic history/IR disciplinary history?</a:t>
            </a:r>
          </a:p>
          <a:p>
            <a:pPr marL="1143000" lvl="2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Multiple disciplinary histories/syllabi?</a:t>
            </a:r>
            <a:endParaRPr lang="en-US" sz="24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dirty="0"/>
              <a:t>Erasure of non-Western subjects in history making</a:t>
            </a:r>
          </a:p>
          <a:p>
            <a:pPr marL="685800" lvl="1" indent="-228600">
              <a:lnSpc>
                <a:spcPct val="100000"/>
              </a:lnSpc>
              <a:buSzPts val="2800"/>
            </a:pPr>
            <a:r>
              <a:rPr lang="en-US" sz="2800" dirty="0"/>
              <a:t>Agency of non-imperial states(</a:t>
            </a:r>
            <a:r>
              <a:rPr lang="en-US" sz="2800" dirty="0" err="1"/>
              <a:t>Choson</a:t>
            </a:r>
            <a:r>
              <a:rPr lang="en-US" sz="2800" dirty="0"/>
              <a:t>)?</a:t>
            </a:r>
          </a:p>
          <a:p>
            <a:pPr marL="685800" lvl="1" indent="-228600">
              <a:lnSpc>
                <a:spcPct val="100000"/>
              </a:lnSpc>
              <a:buSzPts val="2800"/>
            </a:pPr>
            <a:r>
              <a:rPr lang="en-US" sz="2800" dirty="0"/>
              <a:t>Pre-modern Koreans as post-colonial agents?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2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826" y="1965382"/>
            <a:ext cx="9006348" cy="25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US" sz="4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Ch. 11. Global Sources of</a:t>
            </a:r>
            <a:br>
              <a:rPr lang="en-US" altLang="ko-US" sz="4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US" sz="4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International Thought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-172912" y="163830"/>
            <a:ext cx="2273158" cy="46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ko-KR" alt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한외사</a:t>
            </a:r>
            <a:r>
              <a:rPr lang="ko-KR" alt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12.15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Review of Global International Thought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Great thinker approach 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Pre-Qin thinker, </a:t>
            </a:r>
            <a:r>
              <a:rPr lang="en-US" sz="2800" dirty="0" err="1"/>
              <a:t>Kautilya</a:t>
            </a:r>
            <a:r>
              <a:rPr lang="en-US" sz="2800" dirty="0"/>
              <a:t>, Liang Qichao, </a:t>
            </a:r>
            <a:r>
              <a:rPr lang="en-US" altLang="ko-US" sz="2800" dirty="0"/>
              <a:t>Ibn Khaldun </a:t>
            </a:r>
            <a:r>
              <a:rPr lang="en-US" sz="2800" dirty="0"/>
              <a:t>…</a:t>
            </a:r>
            <a:endParaRPr sz="2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dirty="0"/>
              <a:t>Concept-centered approach</a:t>
            </a:r>
          </a:p>
          <a:p>
            <a:pPr marL="685800" lvl="1" indent="-228600">
              <a:lnSpc>
                <a:spcPct val="100000"/>
              </a:lnSpc>
              <a:spcBef>
                <a:spcPts val="1000"/>
              </a:spcBef>
              <a:buSzPts val="2800"/>
            </a:pPr>
            <a:r>
              <a:rPr lang="en-US" sz="2800" dirty="0" err="1"/>
              <a:t>Tianxia</a:t>
            </a:r>
            <a:r>
              <a:rPr lang="en-US" sz="2800" dirty="0"/>
              <a:t>, umma, </a:t>
            </a:r>
            <a:r>
              <a:rPr lang="en-US" sz="2800" dirty="0" err="1"/>
              <a:t>gongsheng</a:t>
            </a:r>
            <a:r>
              <a:rPr lang="en-US" sz="2800" dirty="0"/>
              <a:t> … 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Need for a contextualist approach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Going on for decades in the history of Western international thought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Edward Keene, David Armitage</a:t>
            </a:r>
            <a:endParaRPr sz="2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dirty="0"/>
              <a:t>Temporal scope</a:t>
            </a:r>
          </a:p>
          <a:p>
            <a:pPr marL="685800" lvl="1" indent="-228600">
              <a:lnSpc>
                <a:spcPct val="100000"/>
              </a:lnSpc>
              <a:spcBef>
                <a:spcPts val="1000"/>
              </a:spcBef>
              <a:buSzPts val="2800"/>
            </a:pPr>
            <a:r>
              <a:rPr lang="en-US" sz="2800" dirty="0"/>
              <a:t>Ancient, early modern, 19th century, modern</a:t>
            </a:r>
          </a:p>
          <a:p>
            <a:pPr marL="228600" indent="-228600">
              <a:lnSpc>
                <a:spcPct val="100000"/>
              </a:lnSpc>
              <a:buSzPts val="2800"/>
            </a:pPr>
            <a:r>
              <a:rPr lang="en-US" dirty="0"/>
              <a:t>Sources and genealogy</a:t>
            </a:r>
          </a:p>
          <a:p>
            <a:pPr marL="685800" lvl="1" indent="-228600">
              <a:lnSpc>
                <a:spcPct val="100000"/>
              </a:lnSpc>
              <a:buSzPts val="2800"/>
            </a:pPr>
            <a:r>
              <a:rPr lang="en-US" sz="2800" dirty="0"/>
              <a:t>Need for a more systematic exploration of the sources for international thought</a:t>
            </a:r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79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Need for a contextualist approach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Beyond the great-thinkers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Practical discourses by political leaders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Historical background for philosophical ideas</a:t>
            </a:r>
            <a:endParaRPr sz="2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dirty="0"/>
              <a:t>Discontinuity of ideas</a:t>
            </a:r>
          </a:p>
          <a:p>
            <a:pPr marL="685800" lvl="1" indent="-228600">
              <a:lnSpc>
                <a:spcPct val="100000"/>
              </a:lnSpc>
              <a:spcBef>
                <a:spcPts val="1000"/>
              </a:spcBef>
              <a:buSzPts val="2800"/>
            </a:pPr>
            <a:r>
              <a:rPr lang="en-US" sz="2800" dirty="0"/>
              <a:t>Dynastic transition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509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dirty="0"/>
              <a:t>Fusion of horizons</a:t>
            </a:r>
            <a:endParaRPr sz="3200" dirty="0"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20000"/>
            <a:ext cx="78867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/>
              <a:t>How to reconstruct a tradition of global thought within the modern discourse on international relations?</a:t>
            </a:r>
          </a:p>
          <a:p>
            <a:pPr marL="685800" lvl="1" indent="-2286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dirty="0"/>
              <a:t>How to revive East Asian tradition of international/global thought?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lang="en-US" dirty="0"/>
          </a:p>
          <a:p>
            <a:pPr marL="228600" indent="-228600">
              <a:lnSpc>
                <a:spcPct val="100000"/>
              </a:lnSpc>
              <a:buSzPts val="2800"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78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796</Words>
  <Application>Microsoft Macintosh PowerPoint</Application>
  <PresentationFormat>화면 슬라이드 쇼(4:3)</PresentationFormat>
  <Paragraphs>102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테마</vt:lpstr>
      <vt:lpstr>Ch. 9. Post-Colonial Histories of International Relations</vt:lpstr>
      <vt:lpstr>Eurocentric histories of IR</vt:lpstr>
      <vt:lpstr>Questions?</vt:lpstr>
      <vt:lpstr>Ch. 11. Global Sources of International Thought</vt:lpstr>
      <vt:lpstr>Review of Global International Thought</vt:lpstr>
      <vt:lpstr>Need for a contextualist approach</vt:lpstr>
      <vt:lpstr>Need for a contextualist approach</vt:lpstr>
      <vt:lpstr>Fusion of horizons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Asia and Global Order</dc:title>
  <dc:creator>Inho Choi</dc:creator>
  <cp:lastModifiedBy>Inho Choi</cp:lastModifiedBy>
  <cp:revision>29</cp:revision>
  <dcterms:created xsi:type="dcterms:W3CDTF">2023-03-19T22:27:59Z</dcterms:created>
  <dcterms:modified xsi:type="dcterms:W3CDTF">2023-12-10T09:29:31Z</dcterms:modified>
</cp:coreProperties>
</file>