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8"/>
  </p:notesMasterIdLst>
  <p:sldIdLst>
    <p:sldId id="256" r:id="rId2"/>
    <p:sldId id="272" r:id="rId3"/>
    <p:sldId id="355" r:id="rId4"/>
    <p:sldId id="346" r:id="rId5"/>
    <p:sldId id="348" r:id="rId6"/>
    <p:sldId id="349" r:id="rId7"/>
    <p:sldId id="347" r:id="rId8"/>
    <p:sldId id="350" r:id="rId9"/>
    <p:sldId id="351" r:id="rId10"/>
    <p:sldId id="352" r:id="rId11"/>
    <p:sldId id="353" r:id="rId12"/>
    <p:sldId id="354" r:id="rId13"/>
    <p:sldId id="356" r:id="rId14"/>
    <p:sldId id="357" r:id="rId15"/>
    <p:sldId id="359" r:id="rId16"/>
    <p:sldId id="360" r:id="rId17"/>
  </p:sldIdLst>
  <p:sldSz cx="9144000" cy="6858000" type="screen4x3"/>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002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147"/>
    <p:restoredTop sz="67411" autoAdjust="0"/>
  </p:normalViewPr>
  <p:slideViewPr>
    <p:cSldViewPr snapToGrid="0" snapToObjects="1">
      <p:cViewPr varScale="1">
        <p:scale>
          <a:sx n="73" d="100"/>
          <a:sy n="73" d="100"/>
        </p:scale>
        <p:origin x="130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06E957-251C-4605-82B3-483B36BC5505}" type="datetimeFigureOut">
              <a:rPr lang="en-US" smtClean="0"/>
              <a:t>12/19/23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75B79-DF54-4B4A-9802-EF1B4227C308}" type="slidenum">
              <a:rPr lang="en-US" smtClean="0"/>
              <a:t>‹#›</a:t>
            </a:fld>
            <a:endParaRPr lang="en-US"/>
          </a:p>
        </p:txBody>
      </p:sp>
    </p:spTree>
    <p:extLst>
      <p:ext uri="{BB962C8B-B14F-4D97-AF65-F5344CB8AC3E}">
        <p14:creationId xmlns:p14="http://schemas.microsoft.com/office/powerpoint/2010/main" val="550066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en.wikipedia.org/wiki/Historical_method" TargetMode="External"/><Relationship Id="rId13" Type="http://schemas.openxmlformats.org/officeDocument/2006/relationships/hyperlink" Target="https://en.wikipedia.org/wiki/Constitutional_law" TargetMode="External"/><Relationship Id="rId3" Type="http://schemas.openxmlformats.org/officeDocument/2006/relationships/hyperlink" Target="https://en.wikipedia.org/wiki/Conservatism" TargetMode="External"/><Relationship Id="rId7" Type="http://schemas.openxmlformats.org/officeDocument/2006/relationships/hyperlink" Target="https://en.wikipedia.org/wiki/Rousseau" TargetMode="External"/><Relationship Id="rId12" Type="http://schemas.openxmlformats.org/officeDocument/2006/relationships/hyperlink" Target="https://en.wikipedia.org/wiki/Karl_Ludwig_von_Haller" TargetMode="External"/><Relationship Id="rId2" Type="http://schemas.openxmlformats.org/officeDocument/2006/relationships/slide" Target="../slides/slide6.xml"/><Relationship Id="rId16" Type="http://schemas.openxmlformats.org/officeDocument/2006/relationships/hyperlink" Target="https://en.wikipedia.org/wiki/Feudalism" TargetMode="External"/><Relationship Id="rId1" Type="http://schemas.openxmlformats.org/officeDocument/2006/relationships/notesMaster" Target="../notesMasters/notesMaster1.xml"/><Relationship Id="rId6" Type="http://schemas.openxmlformats.org/officeDocument/2006/relationships/hyperlink" Target="https://en.wikipedia.org/wiki/Montesquieu" TargetMode="External"/><Relationship Id="rId11" Type="http://schemas.openxmlformats.org/officeDocument/2006/relationships/hyperlink" Target="https://en.wikipedia.org/wiki/Joseph_de_Maistre" TargetMode="External"/><Relationship Id="rId5" Type="http://schemas.openxmlformats.org/officeDocument/2006/relationships/hyperlink" Target="https://en.wikipedia.org/wiki/Rights_of_man" TargetMode="External"/><Relationship Id="rId15" Type="http://schemas.openxmlformats.org/officeDocument/2006/relationships/hyperlink" Target="https://en.wikipedia.org/wiki/Medieval" TargetMode="External"/><Relationship Id="rId10" Type="http://schemas.openxmlformats.org/officeDocument/2006/relationships/hyperlink" Target="https://en.wikipedia.org/wiki/Friedrich_von_Gentz" TargetMode="External"/><Relationship Id="rId4" Type="http://schemas.openxmlformats.org/officeDocument/2006/relationships/hyperlink" Target="https://en.wikipedia.org/wiki/Romanticism" TargetMode="External"/><Relationship Id="rId9" Type="http://schemas.openxmlformats.org/officeDocument/2006/relationships/hyperlink" Target="https://en.wikipedia.org/wiki/Edmund_Burke" TargetMode="External"/><Relationship Id="rId14" Type="http://schemas.openxmlformats.org/officeDocument/2006/relationships/hyperlink" Target="https://en.wikipedia.org/wiki/Civil_law_(common_law)"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Chapter 16</a:t>
            </a:r>
          </a:p>
        </p:txBody>
      </p:sp>
      <p:sp>
        <p:nvSpPr>
          <p:cNvPr id="4" name="Slide Number Placeholder 3"/>
          <p:cNvSpPr>
            <a:spLocks noGrp="1"/>
          </p:cNvSpPr>
          <p:nvPr>
            <p:ph type="sldNum" sz="quarter" idx="5"/>
          </p:nvPr>
        </p:nvSpPr>
        <p:spPr/>
        <p:txBody>
          <a:bodyPr/>
          <a:lstStyle/>
          <a:p>
            <a:fld id="{8B975B79-DF54-4B4A-9802-EF1B4227C308}" type="slidenum">
              <a:rPr lang="en-US" smtClean="0"/>
              <a:t>1</a:t>
            </a:fld>
            <a:endParaRPr lang="en-US"/>
          </a:p>
        </p:txBody>
      </p:sp>
    </p:spTree>
    <p:extLst>
      <p:ext uri="{BB962C8B-B14F-4D97-AF65-F5344CB8AC3E}">
        <p14:creationId xmlns:p14="http://schemas.microsoft.com/office/powerpoint/2010/main" val="1432126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2</a:t>
            </a:fld>
            <a:endParaRPr lang="en-US"/>
          </a:p>
        </p:txBody>
      </p:sp>
    </p:spTree>
    <p:extLst>
      <p:ext uri="{BB962C8B-B14F-4D97-AF65-F5344CB8AC3E}">
        <p14:creationId xmlns:p14="http://schemas.microsoft.com/office/powerpoint/2010/main" val="1742561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3</a:t>
            </a:fld>
            <a:endParaRPr lang="en-US"/>
          </a:p>
        </p:txBody>
      </p:sp>
    </p:spTree>
    <p:extLst>
      <p:ext uri="{BB962C8B-B14F-4D97-AF65-F5344CB8AC3E}">
        <p14:creationId xmlns:p14="http://schemas.microsoft.com/office/powerpoint/2010/main" val="1310311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4</a:t>
            </a:fld>
            <a:endParaRPr lang="en-US"/>
          </a:p>
        </p:txBody>
      </p:sp>
    </p:spTree>
    <p:extLst>
      <p:ext uri="{BB962C8B-B14F-4D97-AF65-F5344CB8AC3E}">
        <p14:creationId xmlns:p14="http://schemas.microsoft.com/office/powerpoint/2010/main" val="3856820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5</a:t>
            </a:fld>
            <a:endParaRPr lang="en-US"/>
          </a:p>
        </p:txBody>
      </p:sp>
    </p:spTree>
    <p:extLst>
      <p:ext uri="{BB962C8B-B14F-4D97-AF65-F5344CB8AC3E}">
        <p14:creationId xmlns:p14="http://schemas.microsoft.com/office/powerpoint/2010/main" val="42680374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Adam Heinrich Müller</a:t>
            </a:r>
            <a:r>
              <a:rPr lang="en-US" dirty="0"/>
              <a:t> (30 June 1779 – 17 January 1829) was a German-Austrian </a:t>
            </a:r>
            <a:r>
              <a:rPr lang="en-US" dirty="0">
                <a:hlinkClick r:id="rId3" tooltip="Conservatism"/>
              </a:rPr>
              <a:t>conservative</a:t>
            </a:r>
            <a:r>
              <a:rPr lang="en-US" dirty="0"/>
              <a:t> philosopher, literary critic, and political economist, working within the </a:t>
            </a:r>
            <a:r>
              <a:rPr lang="en-US" dirty="0">
                <a:hlinkClick r:id="rId4" tooltip="Romanticism"/>
              </a:rPr>
              <a:t>romantic</a:t>
            </a:r>
            <a:r>
              <a:rPr lang="en-US" dirty="0"/>
              <a:t> tradition. Müller was a conservative writer whose vision of the state was one of an absolute power, in contrast to theorists who emphasized the </a:t>
            </a:r>
            <a:r>
              <a:rPr lang="en-US" dirty="0">
                <a:hlinkClick r:id="rId5" tooltip="Rights of man"/>
              </a:rPr>
              <a:t>rights of man</a:t>
            </a:r>
            <a:r>
              <a:rPr lang="en-US" dirty="0"/>
              <a:t> such as </a:t>
            </a:r>
            <a:r>
              <a:rPr lang="en-US" dirty="0">
                <a:hlinkClick r:id="rId6" tooltip="Montesquieu"/>
              </a:rPr>
              <a:t>Montesquieu</a:t>
            </a:r>
            <a:r>
              <a:rPr lang="en-US" dirty="0"/>
              <a:t> and </a:t>
            </a:r>
            <a:r>
              <a:rPr lang="en-US" dirty="0">
                <a:hlinkClick r:id="rId7" tooltip="Rousseau"/>
              </a:rPr>
              <a:t>Rousseau</a:t>
            </a:r>
            <a:r>
              <a:rPr lang="en-US" dirty="0"/>
              <a:t>.</a:t>
            </a:r>
            <a:r>
              <a:rPr lang="en-US" baseline="30000" dirty="0"/>
              <a:t> </a:t>
            </a:r>
            <a:r>
              <a:rPr lang="en-US" dirty="0"/>
              <a:t>Müller </a:t>
            </a:r>
            <a:r>
              <a:rPr lang="en-US" dirty="0" err="1"/>
              <a:t>endeavoured</a:t>
            </a:r>
            <a:r>
              <a:rPr lang="en-US" dirty="0"/>
              <a:t> to comprehend the connection between political and social science, and, while using the </a:t>
            </a:r>
            <a:r>
              <a:rPr lang="en-US" dirty="0">
                <a:hlinkClick r:id="rId8" tooltip="Historical method"/>
              </a:rPr>
              <a:t>historical method</a:t>
            </a:r>
            <a:r>
              <a:rPr lang="en-US" dirty="0"/>
              <a:t>, to base them upon philosophy and religion.</a:t>
            </a:r>
            <a:r>
              <a:rPr lang="en-US" baseline="30000" dirty="0"/>
              <a:t> </a:t>
            </a:r>
            <a:r>
              <a:rPr lang="en-US" dirty="0"/>
              <a:t>With </a:t>
            </a:r>
            <a:r>
              <a:rPr lang="en-US" dirty="0">
                <a:hlinkClick r:id="rId9" tooltip="Edmund Burke"/>
              </a:rPr>
              <a:t>Edmund Burke</a:t>
            </a:r>
            <a:r>
              <a:rPr lang="en-US" dirty="0"/>
              <a:t>, </a:t>
            </a:r>
            <a:r>
              <a:rPr lang="en-US" dirty="0">
                <a:hlinkClick r:id="rId10" tooltip="Friedrich von Gentz"/>
              </a:rPr>
              <a:t>Friedrich von Gentz</a:t>
            </a:r>
            <a:r>
              <a:rPr lang="en-US" dirty="0"/>
              <a:t>, </a:t>
            </a:r>
            <a:r>
              <a:rPr lang="en-US" dirty="0">
                <a:hlinkClick r:id="rId11" tooltip="Joseph de Maistre"/>
              </a:rPr>
              <a:t>Joseph de Maistre</a:t>
            </a:r>
            <a:r>
              <a:rPr lang="en-US" dirty="0"/>
              <a:t>, and </a:t>
            </a:r>
            <a:r>
              <a:rPr lang="en-US" dirty="0">
                <a:hlinkClick r:id="rId12" tooltip="Karl Ludwig von Haller"/>
              </a:rPr>
              <a:t>Karl Ludwig von Haller</a:t>
            </a:r>
            <a:r>
              <a:rPr lang="en-US" dirty="0"/>
              <a:t>, he must be reckoned among the chief opponents of revolutionary ideas in politics. In his work, </a:t>
            </a:r>
            <a:r>
              <a:rPr lang="en-US" i="1" dirty="0"/>
              <a:t>Von der </a:t>
            </a:r>
            <a:r>
              <a:rPr lang="en-US" i="1" dirty="0" err="1"/>
              <a:t>Notwendigkeit</a:t>
            </a:r>
            <a:r>
              <a:rPr lang="en-US" i="1" dirty="0"/>
              <a:t> </a:t>
            </a:r>
            <a:r>
              <a:rPr lang="en-US" i="1" dirty="0" err="1"/>
              <a:t>einer</a:t>
            </a:r>
            <a:r>
              <a:rPr lang="en-US" i="1" dirty="0"/>
              <a:t> </a:t>
            </a:r>
            <a:r>
              <a:rPr lang="en-US" i="1" dirty="0" err="1"/>
              <a:t>theologischen</a:t>
            </a:r>
            <a:r>
              <a:rPr lang="en-US" i="1" dirty="0"/>
              <a:t> </a:t>
            </a:r>
            <a:r>
              <a:rPr lang="en-US" i="1" dirty="0" err="1"/>
              <a:t>Grundlage</a:t>
            </a:r>
            <a:r>
              <a:rPr lang="en-US" i="1" dirty="0"/>
              <a:t> der </a:t>
            </a:r>
            <a:r>
              <a:rPr lang="en-US" i="1" dirty="0" err="1"/>
              <a:t>gesamten</a:t>
            </a:r>
            <a:r>
              <a:rPr lang="en-US" i="1" dirty="0"/>
              <a:t> </a:t>
            </a:r>
            <a:r>
              <a:rPr lang="en-US" i="1" dirty="0" err="1"/>
              <a:t>Staatswissenschaften</a:t>
            </a:r>
            <a:r>
              <a:rPr lang="en-US" dirty="0"/>
              <a:t> (</a:t>
            </a:r>
            <a:r>
              <a:rPr lang="en-US" i="1" dirty="0"/>
              <a:t>On the necessity of a comprehensive theological foundation for political science</a:t>
            </a:r>
            <a:r>
              <a:rPr lang="en-US" dirty="0"/>
              <a:t>, 1820), Müller rejects, like Haller (</a:t>
            </a:r>
            <a:r>
              <a:rPr lang="en-US" i="1" dirty="0"/>
              <a:t>Restauration der </a:t>
            </a:r>
            <a:r>
              <a:rPr lang="en-US" i="1" dirty="0" err="1"/>
              <a:t>Staatswissenschaften</a:t>
            </a:r>
            <a:r>
              <a:rPr lang="en-US" dirty="0"/>
              <a:t>, 1816), the distinction between </a:t>
            </a:r>
            <a:r>
              <a:rPr lang="en-US" dirty="0">
                <a:hlinkClick r:id="rId13" tooltip="Constitutional law"/>
              </a:rPr>
              <a:t>constitutional</a:t>
            </a:r>
            <a:r>
              <a:rPr lang="en-US" dirty="0"/>
              <a:t> and </a:t>
            </a:r>
            <a:r>
              <a:rPr lang="en-US" dirty="0">
                <a:hlinkClick r:id="rId14" tooltip="Civil law (common law)"/>
              </a:rPr>
              <a:t>civil law (common law)</a:t>
            </a:r>
            <a:r>
              <a:rPr lang="en-US" dirty="0"/>
              <a:t>, which rests entirely on the idea of the state's omnipotence. His ideal is </a:t>
            </a:r>
            <a:r>
              <a:rPr lang="en-US" dirty="0">
                <a:hlinkClick r:id="rId15" tooltip="Medieval"/>
              </a:rPr>
              <a:t>medieval</a:t>
            </a:r>
            <a:r>
              <a:rPr lang="en-US" dirty="0"/>
              <a:t> </a:t>
            </a:r>
            <a:r>
              <a:rPr lang="en-US" dirty="0">
                <a:hlinkClick r:id="rId16" tooltip="Feudalism"/>
              </a:rPr>
              <a:t>feudalism</a:t>
            </a:r>
            <a:r>
              <a:rPr lang="en-US" dirty="0"/>
              <a:t>, on which the reorganization of modern political institutions should be modelled. </a:t>
            </a:r>
          </a:p>
          <a:p>
            <a:endParaRPr lang="en-US" dirty="0"/>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6</a:t>
            </a:fld>
            <a:endParaRPr lang="en-US"/>
          </a:p>
        </p:txBody>
      </p:sp>
    </p:spTree>
    <p:extLst>
      <p:ext uri="{BB962C8B-B14F-4D97-AF65-F5344CB8AC3E}">
        <p14:creationId xmlns:p14="http://schemas.microsoft.com/office/powerpoint/2010/main" val="4194967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7</a:t>
            </a:fld>
            <a:endParaRPr lang="en-US"/>
          </a:p>
        </p:txBody>
      </p:sp>
    </p:spTree>
    <p:extLst>
      <p:ext uri="{BB962C8B-B14F-4D97-AF65-F5344CB8AC3E}">
        <p14:creationId xmlns:p14="http://schemas.microsoft.com/office/powerpoint/2010/main" val="1465314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8</a:t>
            </a:fld>
            <a:endParaRPr lang="en-US"/>
          </a:p>
        </p:txBody>
      </p:sp>
    </p:spTree>
    <p:extLst>
      <p:ext uri="{BB962C8B-B14F-4D97-AF65-F5344CB8AC3E}">
        <p14:creationId xmlns:p14="http://schemas.microsoft.com/office/powerpoint/2010/main" val="1279971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9</a:t>
            </a:fld>
            <a:endParaRPr lang="en-US"/>
          </a:p>
        </p:txBody>
      </p:sp>
    </p:spTree>
    <p:extLst>
      <p:ext uri="{BB962C8B-B14F-4D97-AF65-F5344CB8AC3E}">
        <p14:creationId xmlns:p14="http://schemas.microsoft.com/office/powerpoint/2010/main" val="3584802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10</a:t>
            </a:fld>
            <a:endParaRPr lang="en-US"/>
          </a:p>
        </p:txBody>
      </p:sp>
    </p:spTree>
    <p:extLst>
      <p:ext uri="{BB962C8B-B14F-4D97-AF65-F5344CB8AC3E}">
        <p14:creationId xmlns:p14="http://schemas.microsoft.com/office/powerpoint/2010/main" val="1197639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latin typeface="Calibri" panose="020F0502020204030204" pitchFamily="34" charset="0"/>
                <a:ea typeface="Tahoma" panose="020B0604030504040204" pitchFamily="34" charset="0"/>
                <a:cs typeface="Calibri" panose="020F0502020204030204" pitchFamily="34" charset="0"/>
              </a:rPr>
              <a:t>modern principles of sovereignty and self-determination, </a:t>
            </a:r>
            <a:r>
              <a:rPr kumimoji="1" lang="en-US" altLang="zh-CN" sz="1200" dirty="0" err="1">
                <a:latin typeface="Calibri" panose="020F0502020204030204" pitchFamily="34" charset="0"/>
                <a:ea typeface="Tahoma" panose="020B0604030504040204" pitchFamily="34" charset="0"/>
                <a:cs typeface="Calibri" panose="020F0502020204030204" pitchFamily="34" charset="0"/>
              </a:rPr>
              <a:t>Koselleck</a:t>
            </a:r>
            <a:r>
              <a:rPr kumimoji="1" lang="en-US" altLang="zh-CN" sz="1200" dirty="0">
                <a:latin typeface="Calibri" panose="020F0502020204030204" pitchFamily="34" charset="0"/>
                <a:ea typeface="Tahoma" panose="020B0604030504040204" pitchFamily="34" charset="0"/>
                <a:cs typeface="Calibri" panose="020F0502020204030204" pitchFamily="34" charset="0"/>
              </a:rPr>
              <a:t>, Critique and Crisis: the Pathogenesis of Modern Society – </a:t>
            </a:r>
            <a:r>
              <a:rPr kumimoji="1" lang="ko-KR" altLang="en-US" sz="1200" dirty="0">
                <a:latin typeface="Calibri" panose="020F0502020204030204" pitchFamily="34" charset="0"/>
                <a:ea typeface="Tahoma" panose="020B0604030504040204" pitchFamily="34" charset="0"/>
                <a:cs typeface="Calibri" panose="020F0502020204030204" pitchFamily="34" charset="0"/>
              </a:rPr>
              <a:t>비판과 위기</a:t>
            </a:r>
            <a:r>
              <a:rPr kumimoji="1" lang="en-US" altLang="ko-KR" sz="1200" dirty="0">
                <a:latin typeface="Calibri" panose="020F0502020204030204" pitchFamily="34" charset="0"/>
                <a:ea typeface="Tahoma" panose="020B0604030504040204" pitchFamily="34" charset="0"/>
                <a:cs typeface="Calibri" panose="020F0502020204030204" pitchFamily="34" charset="0"/>
              </a:rPr>
              <a:t>:</a:t>
            </a:r>
            <a:r>
              <a:rPr kumimoji="1" lang="ko-KR" altLang="en-US" sz="1200" dirty="0">
                <a:latin typeface="Calibri" panose="020F0502020204030204" pitchFamily="34" charset="0"/>
                <a:ea typeface="Tahoma" panose="020B0604030504040204" pitchFamily="34" charset="0"/>
                <a:cs typeface="Calibri" panose="020F0502020204030204" pitchFamily="34" charset="0"/>
              </a:rPr>
              <a:t> 근대사회의 발병 </a:t>
            </a:r>
            <a:r>
              <a:rPr kumimoji="1" lang="en-US" altLang="ko-KR" sz="1200" dirty="0">
                <a:latin typeface="Calibri" panose="020F0502020204030204" pitchFamily="34" charset="0"/>
                <a:ea typeface="Tahoma" panose="020B0604030504040204" pitchFamily="34" charset="0"/>
                <a:cs typeface="Calibri" panose="020F0502020204030204" pitchFamily="34" charset="0"/>
              </a:rPr>
              <a:t>–</a:t>
            </a:r>
            <a:r>
              <a:rPr kumimoji="1" lang="ko-KR" altLang="en-US" sz="1200" dirty="0">
                <a:latin typeface="Calibri" panose="020F0502020204030204" pitchFamily="34" charset="0"/>
                <a:ea typeface="Tahoma" panose="020B0604030504040204" pitchFamily="34" charset="0"/>
                <a:cs typeface="Calibri" panose="020F0502020204030204" pitchFamily="34" charset="0"/>
              </a:rPr>
              <a:t> 근대성 자체가 병리적인 현상이다</a:t>
            </a:r>
            <a:r>
              <a:rPr kumimoji="1" lang="en-US" altLang="ko-KR" sz="1200" dirty="0">
                <a:latin typeface="Calibri" panose="020F0502020204030204" pitchFamily="34" charset="0"/>
                <a:ea typeface="Tahoma" panose="020B0604030504040204" pitchFamily="34" charset="0"/>
                <a:cs typeface="Calibri" panose="020F0502020204030204" pitchFamily="34" charset="0"/>
              </a:rPr>
              <a:t>.</a:t>
            </a:r>
            <a:r>
              <a:rPr kumimoji="1" lang="ko-KR" altLang="en-US" sz="1200" dirty="0">
                <a:latin typeface="Calibri" panose="020F0502020204030204" pitchFamily="34" charset="0"/>
                <a:ea typeface="Tahoma" panose="020B0604030504040204" pitchFamily="34" charset="0"/>
                <a:cs typeface="Calibri" panose="020F0502020204030204" pitchFamily="34" charset="0"/>
              </a:rPr>
              <a:t> </a:t>
            </a:r>
            <a:endParaRPr kumimoji="1" lang="en-US" altLang="zh-CN" sz="1200" dirty="0">
              <a:latin typeface="Calibri" panose="020F0502020204030204" pitchFamily="34" charset="0"/>
              <a:ea typeface="Tahoma" panose="020B0604030504040204" pitchFamily="34" charset="0"/>
              <a:cs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11</a:t>
            </a:fld>
            <a:endParaRPr lang="en-US"/>
          </a:p>
        </p:txBody>
      </p:sp>
    </p:spTree>
    <p:extLst>
      <p:ext uri="{BB962C8B-B14F-4D97-AF65-F5344CB8AC3E}">
        <p14:creationId xmlns:p14="http://schemas.microsoft.com/office/powerpoint/2010/main" val="3586092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latin typeface="Calibri" panose="020F0502020204030204" pitchFamily="34" charset="0"/>
                <a:ea typeface="Tahoma" panose="020B0604030504040204" pitchFamily="34" charset="0"/>
                <a:cs typeface="Calibri" panose="020F0502020204030204" pitchFamily="34" charset="0"/>
              </a:rPr>
              <a:t>modern principles of sovereignty and self-determination, </a:t>
            </a:r>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12</a:t>
            </a:fld>
            <a:endParaRPr lang="en-US"/>
          </a:p>
        </p:txBody>
      </p:sp>
    </p:spTree>
    <p:extLst>
      <p:ext uri="{BB962C8B-B14F-4D97-AF65-F5344CB8AC3E}">
        <p14:creationId xmlns:p14="http://schemas.microsoft.com/office/powerpoint/2010/main" val="38154445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latin typeface="Calibri" panose="020F0502020204030204" pitchFamily="34" charset="0"/>
                <a:ea typeface="Tahoma" panose="020B0604030504040204" pitchFamily="34" charset="0"/>
                <a:cs typeface="Calibri" panose="020F0502020204030204" pitchFamily="34" charset="0"/>
              </a:rPr>
              <a:t>modern principles of sovereignty and self-determination,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dirty="0">
              <a:latin typeface="Calibri" panose="020F0502020204030204" pitchFamily="34" charset="0"/>
              <a:ea typeface="Tahoma" panose="020B060403050404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latin typeface="Calibri" panose="020F0502020204030204" pitchFamily="34" charset="0"/>
                <a:ea typeface="Tahoma" panose="020B0604030504040204" pitchFamily="34" charset="0"/>
                <a:cs typeface="Calibri" panose="020F0502020204030204" pitchFamily="34" charset="0"/>
              </a:rPr>
              <a:t>Adom Getachew, Worldmaking After Empire: The Rise and Fall </a:t>
            </a:r>
            <a:r>
              <a:rPr kumimoji="1" lang="en-US" altLang="zh-CN" sz="1200">
                <a:latin typeface="Calibri" panose="020F0502020204030204" pitchFamily="34" charset="0"/>
                <a:ea typeface="Tahoma" panose="020B0604030504040204" pitchFamily="34" charset="0"/>
                <a:cs typeface="Calibri" panose="020F0502020204030204" pitchFamily="34" charset="0"/>
              </a:rPr>
              <a:t>of Self-Determination</a:t>
            </a:r>
            <a:endParaRPr kumimoji="1" lang="en-US" altLang="zh-CN" sz="1200" dirty="0">
              <a:latin typeface="Calibri" panose="020F0502020204030204" pitchFamily="34" charset="0"/>
              <a:ea typeface="Tahoma" panose="020B060403050404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8B975B79-DF54-4B4A-9802-EF1B4227C308}" type="slidenum">
              <a:rPr lang="en-US" smtClean="0"/>
              <a:t>13</a:t>
            </a:fld>
            <a:endParaRPr lang="en-US"/>
          </a:p>
        </p:txBody>
      </p:sp>
    </p:spTree>
    <p:extLst>
      <p:ext uri="{BB962C8B-B14F-4D97-AF65-F5344CB8AC3E}">
        <p14:creationId xmlns:p14="http://schemas.microsoft.com/office/powerpoint/2010/main" val="3334181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latin typeface="Calibri" panose="020F0502020204030204" pitchFamily="34" charset="0"/>
                <a:ea typeface="Tahoma" panose="020B0604030504040204" pitchFamily="34" charset="0"/>
                <a:cs typeface="Calibri" panose="020F0502020204030204" pitchFamily="34" charset="0"/>
              </a:rPr>
              <a:t>modern principles of sovereignty and self-determination, </a:t>
            </a:r>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14</a:t>
            </a:fld>
            <a:endParaRPr lang="en-US"/>
          </a:p>
        </p:txBody>
      </p:sp>
    </p:spTree>
    <p:extLst>
      <p:ext uri="{BB962C8B-B14F-4D97-AF65-F5344CB8AC3E}">
        <p14:creationId xmlns:p14="http://schemas.microsoft.com/office/powerpoint/2010/main" val="519107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latin typeface="Calibri" panose="020F0502020204030204" pitchFamily="34" charset="0"/>
                <a:ea typeface="Tahoma" panose="020B0604030504040204" pitchFamily="34" charset="0"/>
                <a:cs typeface="Calibri" panose="020F0502020204030204" pitchFamily="34" charset="0"/>
              </a:rPr>
              <a:t>modern principles of sovereignty and self-determination, </a:t>
            </a:r>
          </a:p>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15</a:t>
            </a:fld>
            <a:endParaRPr lang="en-US"/>
          </a:p>
        </p:txBody>
      </p:sp>
    </p:spTree>
    <p:extLst>
      <p:ext uri="{BB962C8B-B14F-4D97-AF65-F5344CB8AC3E}">
        <p14:creationId xmlns:p14="http://schemas.microsoft.com/office/powerpoint/2010/main" val="3457789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975B79-DF54-4B4A-9802-EF1B4227C308}" type="slidenum">
              <a:rPr lang="en-US" smtClean="0"/>
              <a:t>16</a:t>
            </a:fld>
            <a:endParaRPr lang="en-US"/>
          </a:p>
        </p:txBody>
      </p:sp>
    </p:spTree>
    <p:extLst>
      <p:ext uri="{BB962C8B-B14F-4D97-AF65-F5344CB8AC3E}">
        <p14:creationId xmlns:p14="http://schemas.microsoft.com/office/powerpoint/2010/main" val="1992025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kumimoji="1"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703B753C-00FC-1041-996C-F952DE8DE940}" type="datetimeFigureOut">
              <a:rPr kumimoji="1" lang="zh-CN" altLang="en-US" smtClean="0"/>
              <a:t>2023/12/19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D9B1957-3BDD-6148-B3C9-1FB3B90153A1}" type="slidenum">
              <a:rPr kumimoji="1" lang="zh-CN" altLang="en-US" smtClean="0"/>
              <a:t>‹#›</a:t>
            </a:fld>
            <a:endParaRPr kumimoji="1" lang="zh-CN" altLang="en-US" dirty="0"/>
          </a:p>
        </p:txBody>
      </p:sp>
    </p:spTree>
    <p:extLst>
      <p:ext uri="{BB962C8B-B14F-4D97-AF65-F5344CB8AC3E}">
        <p14:creationId xmlns:p14="http://schemas.microsoft.com/office/powerpoint/2010/main" val="2423470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703B753C-00FC-1041-996C-F952DE8DE940}" type="datetimeFigureOut">
              <a:rPr kumimoji="1" lang="zh-CN" altLang="en-US" smtClean="0"/>
              <a:t>2023/12/19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D9B1957-3BDD-6148-B3C9-1FB3B90153A1}" type="slidenum">
              <a:rPr kumimoji="1" lang="zh-CN" altLang="en-US" smtClean="0"/>
              <a:t>‹#›</a:t>
            </a:fld>
            <a:endParaRPr kumimoji="1" lang="zh-CN" altLang="en-US"/>
          </a:p>
        </p:txBody>
      </p:sp>
    </p:spTree>
    <p:extLst>
      <p:ext uri="{BB962C8B-B14F-4D97-AF65-F5344CB8AC3E}">
        <p14:creationId xmlns:p14="http://schemas.microsoft.com/office/powerpoint/2010/main" val="181999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kumimoji="1"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703B753C-00FC-1041-996C-F952DE8DE940}" type="datetimeFigureOut">
              <a:rPr kumimoji="1" lang="zh-CN" altLang="en-US" smtClean="0"/>
              <a:t>2023/12/19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D9B1957-3BDD-6148-B3C9-1FB3B90153A1}" type="slidenum">
              <a:rPr kumimoji="1" lang="zh-CN" altLang="en-US" smtClean="0"/>
              <a:t>‹#›</a:t>
            </a:fld>
            <a:endParaRPr kumimoji="1" lang="zh-CN" altLang="en-US"/>
          </a:p>
        </p:txBody>
      </p:sp>
    </p:spTree>
    <p:extLst>
      <p:ext uri="{BB962C8B-B14F-4D97-AF65-F5344CB8AC3E}">
        <p14:creationId xmlns:p14="http://schemas.microsoft.com/office/powerpoint/2010/main" val="3052754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703B753C-00FC-1041-996C-F952DE8DE940}" type="datetimeFigureOut">
              <a:rPr kumimoji="1" lang="zh-CN" altLang="en-US" smtClean="0"/>
              <a:t>2023/12/19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1D9B1957-3BDD-6148-B3C9-1FB3B90153A1}" type="slidenum">
              <a:rPr kumimoji="1" lang="zh-CN" altLang="en-US" smtClean="0"/>
              <a:t>‹#›</a:t>
            </a:fld>
            <a:endParaRPr kumimoji="1" lang="zh-CN" altLang="en-US"/>
          </a:p>
        </p:txBody>
      </p:sp>
    </p:spTree>
    <p:extLst>
      <p:ext uri="{BB962C8B-B14F-4D97-AF65-F5344CB8AC3E}">
        <p14:creationId xmlns:p14="http://schemas.microsoft.com/office/powerpoint/2010/main" val="3709305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1"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703B753C-00FC-1041-996C-F952DE8DE940}" type="datetimeFigureOut">
              <a:rPr kumimoji="1" lang="zh-CN" altLang="en-US" smtClean="0"/>
              <a:t>2023/12/19</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1D9B1957-3BDD-6148-B3C9-1FB3B90153A1}" type="slidenum">
              <a:rPr kumimoji="1" lang="zh-CN" altLang="en-US" smtClean="0"/>
              <a:t>‹#›</a:t>
            </a:fld>
            <a:endParaRPr kumimoji="1" lang="zh-CN" altLang="en-US"/>
          </a:p>
        </p:txBody>
      </p:sp>
    </p:spTree>
    <p:extLst>
      <p:ext uri="{BB962C8B-B14F-4D97-AF65-F5344CB8AC3E}">
        <p14:creationId xmlns:p14="http://schemas.microsoft.com/office/powerpoint/2010/main" val="251788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703B753C-00FC-1041-996C-F952DE8DE940}" type="datetimeFigureOut">
              <a:rPr kumimoji="1" lang="zh-CN" altLang="en-US" smtClean="0"/>
              <a:t>2023/12/19</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1D9B1957-3BDD-6148-B3C9-1FB3B90153A1}" type="slidenum">
              <a:rPr kumimoji="1" lang="zh-CN" altLang="en-US" smtClean="0"/>
              <a:t>‹#›</a:t>
            </a:fld>
            <a:endParaRPr kumimoji="1" lang="zh-CN" altLang="en-US"/>
          </a:p>
        </p:txBody>
      </p:sp>
    </p:spTree>
    <p:extLst>
      <p:ext uri="{BB962C8B-B14F-4D97-AF65-F5344CB8AC3E}">
        <p14:creationId xmlns:p14="http://schemas.microsoft.com/office/powerpoint/2010/main" val="43515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03B753C-00FC-1041-996C-F952DE8DE940}" type="datetimeFigureOut">
              <a:rPr kumimoji="1" lang="zh-CN" altLang="en-US" smtClean="0"/>
              <a:t>2023/12/19</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1D9B1957-3BDD-6148-B3C9-1FB3B90153A1}" type="slidenum">
              <a:rPr kumimoji="1" lang="zh-CN" altLang="en-US" smtClean="0"/>
              <a:t>‹#›</a:t>
            </a:fld>
            <a:endParaRPr kumimoji="1" lang="zh-CN" altLang="en-US"/>
          </a:p>
        </p:txBody>
      </p:sp>
    </p:spTree>
    <p:extLst>
      <p:ext uri="{BB962C8B-B14F-4D97-AF65-F5344CB8AC3E}">
        <p14:creationId xmlns:p14="http://schemas.microsoft.com/office/powerpoint/2010/main" val="614674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kumimoji="1"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703B753C-00FC-1041-996C-F952DE8DE940}" type="datetimeFigureOut">
              <a:rPr kumimoji="1" lang="zh-CN" altLang="en-US" smtClean="0"/>
              <a:t>2023/12/19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1D9B1957-3BDD-6148-B3C9-1FB3B90153A1}" type="slidenum">
              <a:rPr kumimoji="1" lang="zh-CN" altLang="en-US" smtClean="0"/>
              <a:t>‹#›</a:t>
            </a:fld>
            <a:endParaRPr kumimoji="1" lang="zh-CN" altLang="en-US"/>
          </a:p>
        </p:txBody>
      </p:sp>
    </p:spTree>
    <p:extLst>
      <p:ext uri="{BB962C8B-B14F-4D97-AF65-F5344CB8AC3E}">
        <p14:creationId xmlns:p14="http://schemas.microsoft.com/office/powerpoint/2010/main" val="16173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kumimoji="1"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703B753C-00FC-1041-996C-F952DE8DE940}" type="datetimeFigureOut">
              <a:rPr kumimoji="1" lang="zh-CN" altLang="en-US" smtClean="0"/>
              <a:t>2023/12/19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1D9B1957-3BDD-6148-B3C9-1FB3B90153A1}" type="slidenum">
              <a:rPr kumimoji="1" lang="zh-CN" altLang="en-US" smtClean="0"/>
              <a:t>‹#›</a:t>
            </a:fld>
            <a:endParaRPr kumimoji="1" lang="zh-CN" altLang="en-US"/>
          </a:p>
        </p:txBody>
      </p:sp>
    </p:spTree>
    <p:extLst>
      <p:ext uri="{BB962C8B-B14F-4D97-AF65-F5344CB8AC3E}">
        <p14:creationId xmlns:p14="http://schemas.microsoft.com/office/powerpoint/2010/main" val="722871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703B753C-00FC-1041-996C-F952DE8DE940}" type="datetimeFigureOut">
              <a:rPr kumimoji="1" lang="zh-CN" altLang="en-US" smtClean="0"/>
              <a:t>2023/12/19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D9B1957-3BDD-6148-B3C9-1FB3B90153A1}" type="slidenum">
              <a:rPr kumimoji="1" lang="zh-CN" altLang="en-US" smtClean="0"/>
              <a:t>‹#›</a:t>
            </a:fld>
            <a:endParaRPr kumimoji="1" lang="zh-CN" altLang="en-US"/>
          </a:p>
        </p:txBody>
      </p:sp>
    </p:spTree>
    <p:extLst>
      <p:ext uri="{BB962C8B-B14F-4D97-AF65-F5344CB8AC3E}">
        <p14:creationId xmlns:p14="http://schemas.microsoft.com/office/powerpoint/2010/main" val="547258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457200" y="274638"/>
            <a:ext cx="6019800" cy="5851525"/>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703B753C-00FC-1041-996C-F952DE8DE940}" type="datetimeFigureOut">
              <a:rPr kumimoji="1" lang="zh-CN" altLang="en-US" smtClean="0"/>
              <a:t>2023/12/19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D9B1957-3BDD-6148-B3C9-1FB3B90153A1}" type="slidenum">
              <a:rPr kumimoji="1" lang="zh-CN" altLang="en-US" smtClean="0"/>
              <a:t>‹#›</a:t>
            </a:fld>
            <a:endParaRPr kumimoji="1" lang="zh-CN" altLang="en-US"/>
          </a:p>
        </p:txBody>
      </p:sp>
    </p:spTree>
    <p:extLst>
      <p:ext uri="{BB962C8B-B14F-4D97-AF65-F5344CB8AC3E}">
        <p14:creationId xmlns:p14="http://schemas.microsoft.com/office/powerpoint/2010/main" val="701935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3B753C-00FC-1041-996C-F952DE8DE940}" type="datetimeFigureOut">
              <a:rPr kumimoji="1" lang="zh-CN" altLang="en-US" smtClean="0"/>
              <a:t>2023/12/19</a:t>
            </a:fld>
            <a:endParaRPr kumimoji="1"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9B1957-3BDD-6148-B3C9-1FB3B90153A1}" type="slidenum">
              <a:rPr kumimoji="1" lang="zh-CN" altLang="en-US" smtClean="0"/>
              <a:t>‹#›</a:t>
            </a:fld>
            <a:endParaRPr kumimoji="1" lang="zh-CN" altLang="en-US"/>
          </a:p>
        </p:txBody>
      </p:sp>
    </p:spTree>
    <p:extLst>
      <p:ext uri="{BB962C8B-B14F-4D97-AF65-F5344CB8AC3E}">
        <p14:creationId xmlns:p14="http://schemas.microsoft.com/office/powerpoint/2010/main" val="196525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22329" y="2130425"/>
            <a:ext cx="8458200" cy="1470025"/>
          </a:xfrm>
        </p:spPr>
        <p:txBody>
          <a:bodyPr>
            <a:noAutofit/>
          </a:bodyPr>
          <a:lstStyle/>
          <a:p>
            <a:r>
              <a:rPr kumimoji="1" lang="nl-NL" altLang="zh-CN" sz="3200" dirty="0" err="1">
                <a:cs typeface="Times New Roman" panose="02020603050405020304" pitchFamily="18" charset="0"/>
              </a:rPr>
              <a:t>Historical</a:t>
            </a:r>
            <a:r>
              <a:rPr kumimoji="1" lang="nl-NL" altLang="zh-CN" sz="3200" dirty="0">
                <a:cs typeface="Times New Roman" panose="02020603050405020304" pitchFamily="18" charset="0"/>
              </a:rPr>
              <a:t> </a:t>
            </a:r>
            <a:r>
              <a:rPr kumimoji="1" lang="nl-NL" altLang="zh-CN" sz="3200" dirty="0" err="1">
                <a:cs typeface="Times New Roman" panose="02020603050405020304" pitchFamily="18" charset="0"/>
              </a:rPr>
              <a:t>Realism</a:t>
            </a:r>
            <a:r>
              <a:rPr kumimoji="1" lang="nl-NL" altLang="zh-CN" sz="3200" dirty="0">
                <a:cs typeface="Times New Roman" panose="02020603050405020304" pitchFamily="18" charset="0"/>
              </a:rPr>
              <a:t> (Michael C. Williams)</a:t>
            </a:r>
            <a:br>
              <a:rPr kumimoji="1" lang="nl-NL" altLang="zh-CN" sz="3200" dirty="0">
                <a:cs typeface="Times New Roman" panose="02020603050405020304" pitchFamily="18" charset="0"/>
              </a:rPr>
            </a:br>
            <a:r>
              <a:rPr kumimoji="1" lang="nl-NL" altLang="zh-CN" sz="3200" dirty="0">
                <a:cs typeface="Times New Roman" panose="02020603050405020304" pitchFamily="18" charset="0"/>
              </a:rPr>
              <a:t>+ Race </a:t>
            </a:r>
            <a:r>
              <a:rPr kumimoji="1" lang="nl-NL" altLang="zh-CN" sz="3200" dirty="0" err="1">
                <a:cs typeface="Times New Roman" panose="02020603050405020304" pitchFamily="18" charset="0"/>
              </a:rPr>
              <a:t>and</a:t>
            </a:r>
            <a:r>
              <a:rPr kumimoji="1" lang="nl-NL" altLang="zh-CN" sz="3200" dirty="0">
                <a:cs typeface="Times New Roman" panose="02020603050405020304" pitchFamily="18" charset="0"/>
              </a:rPr>
              <a:t> </a:t>
            </a:r>
            <a:r>
              <a:rPr kumimoji="1" lang="nl-NL" altLang="zh-CN" sz="3200" dirty="0" err="1">
                <a:cs typeface="Times New Roman" panose="02020603050405020304" pitchFamily="18" charset="0"/>
              </a:rPr>
              <a:t>Racism</a:t>
            </a:r>
            <a:r>
              <a:rPr kumimoji="1" lang="nl-NL" altLang="zh-CN" sz="3200" dirty="0">
                <a:cs typeface="Times New Roman" panose="02020603050405020304" pitchFamily="18" charset="0"/>
              </a:rPr>
              <a:t> (</a:t>
            </a:r>
            <a:r>
              <a:rPr kumimoji="1" lang="nl-NL" altLang="zh-CN" sz="3200" dirty="0" err="1">
                <a:cs typeface="Times New Roman" panose="02020603050405020304" pitchFamily="18" charset="0"/>
              </a:rPr>
              <a:t>Nivi</a:t>
            </a:r>
            <a:r>
              <a:rPr kumimoji="1" lang="nl-NL" altLang="zh-CN" sz="3200" dirty="0">
                <a:cs typeface="Times New Roman" panose="02020603050405020304" pitchFamily="18" charset="0"/>
              </a:rPr>
              <a:t> </a:t>
            </a:r>
            <a:r>
              <a:rPr kumimoji="1" lang="nl-NL" altLang="zh-CN" sz="3200" dirty="0" err="1">
                <a:cs typeface="Times New Roman" panose="02020603050405020304" pitchFamily="18" charset="0"/>
              </a:rPr>
              <a:t>Manchanda</a:t>
            </a:r>
            <a:r>
              <a:rPr kumimoji="1" lang="nl-NL" altLang="zh-CN" sz="3200" dirty="0">
                <a:cs typeface="Times New Roman" panose="02020603050405020304" pitchFamily="18" charset="0"/>
              </a:rPr>
              <a:t>)</a:t>
            </a:r>
            <a:endParaRPr kumimoji="1" lang="zh-CN" altLang="en-US" sz="3200" dirty="0">
              <a:cs typeface="Times New Roman" panose="02020603050405020304" pitchFamily="18" charset="0"/>
            </a:endParaRPr>
          </a:p>
        </p:txBody>
      </p:sp>
      <p:sp>
        <p:nvSpPr>
          <p:cNvPr id="3" name="副标题 2"/>
          <p:cNvSpPr>
            <a:spLocks noGrp="1"/>
          </p:cNvSpPr>
          <p:nvPr>
            <p:ph type="subTitle" idx="1"/>
          </p:nvPr>
        </p:nvSpPr>
        <p:spPr>
          <a:xfrm>
            <a:off x="1371600" y="4444508"/>
            <a:ext cx="6400800" cy="2038350"/>
          </a:xfrm>
        </p:spPr>
        <p:txBody>
          <a:bodyPr>
            <a:normAutofit/>
          </a:bodyPr>
          <a:lstStyle/>
          <a:p>
            <a:r>
              <a:rPr kumimoji="1" lang="en-US" altLang="zh-CN" sz="2000" dirty="0">
                <a:cs typeface="Times New Roman" panose="02020603050405020304" pitchFamily="18" charset="0"/>
              </a:rPr>
              <a:t>Inhwan Oh</a:t>
            </a:r>
          </a:p>
          <a:p>
            <a:r>
              <a:rPr kumimoji="1" lang="en-US" altLang="zh-CN" sz="2000" dirty="0">
                <a:cs typeface="Times New Roman" panose="02020603050405020304" pitchFamily="18" charset="0"/>
              </a:rPr>
              <a:t>December 15, 2023</a:t>
            </a:r>
            <a:endParaRPr kumimoji="1" lang="en-US" altLang="zh-CN" sz="2000" dirty="0"/>
          </a:p>
          <a:p>
            <a:endParaRPr kumimoji="1" lang="en-US" altLang="zh-CN" sz="2400" b="1" dirty="0"/>
          </a:p>
        </p:txBody>
      </p:sp>
      <p:cxnSp>
        <p:nvCxnSpPr>
          <p:cNvPr id="5" name="直线连接符 4"/>
          <p:cNvCxnSpPr/>
          <p:nvPr/>
        </p:nvCxnSpPr>
        <p:spPr>
          <a:xfrm>
            <a:off x="0" y="193248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8" name="矩形 7"/>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zh-CN">
                <a:solidFill>
                  <a:schemeClr val="bg1"/>
                </a:solidFill>
              </a:rPr>
              <a:t>Boston College Department of Political Science</a:t>
            </a:r>
            <a:endParaRPr kumimoji="1" lang="zh-CN" altLang="en-US" dirty="0">
              <a:solidFill>
                <a:schemeClr val="bg1"/>
              </a:solidFill>
            </a:endParaRPr>
          </a:p>
        </p:txBody>
      </p:sp>
    </p:spTree>
    <p:extLst>
      <p:ext uri="{BB962C8B-B14F-4D97-AF65-F5344CB8AC3E}">
        <p14:creationId xmlns:p14="http://schemas.microsoft.com/office/powerpoint/2010/main" val="1752113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6518"/>
            <a:ext cx="8229600" cy="1143000"/>
          </a:xfrm>
        </p:spPr>
        <p:txBody>
          <a:bodyPr>
            <a:normAutofit/>
          </a:bodyPr>
          <a:lstStyle/>
          <a:p>
            <a:pPr algn="l"/>
            <a:r>
              <a:rPr kumimoji="1" lang="en-US" altLang="zh-CN" sz="4000" dirty="0">
                <a:latin typeface="Calibri" panose="020F0502020204030204" pitchFamily="34" charset="0"/>
                <a:cs typeface="Calibri" panose="020F0502020204030204" pitchFamily="34" charset="0"/>
              </a:rPr>
              <a:t>Historical Realism? </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338668" y="893354"/>
            <a:ext cx="8723613" cy="5215748"/>
          </a:xfrm>
        </p:spPr>
        <p:txBody>
          <a:bodyPr>
            <a:normAutofit fontScale="85000" lnSpcReduction="20000"/>
          </a:bodyPr>
          <a:lstStyle/>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History: simply the validation of their theoretical claims about the enduring nature of international politics as power politics?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Political realism’s precise uses of history</a:t>
            </a: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There are diverse visions (here, three) of history in realism. They differ in understanding what history shows and what it means to take a realistic stance toward it.</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(1) Neo-realism or structural realism: the story of structural determination – not the only realist vision of history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(2) Historicist realism: Identifying realism with change, not with continuity, but with change at more fundamental levels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(3) Modernity as an historical epoch and its dangers</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dirty="0">
              <a:latin typeface="Calibri" panose="020F0502020204030204" pitchFamily="34" charset="0"/>
              <a:ea typeface="Tahoma" panose="020B0604030504040204" pitchFamily="34" charset="0"/>
              <a:cs typeface="Calibri" panose="020F0502020204030204" pitchFamily="34" charset="0"/>
            </a:endParaRPr>
          </a:p>
          <a:p>
            <a:endParaRPr kumimoji="1" lang="zh-CN" altLang="en-US" dirty="0"/>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36812"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zh-CN" sz="1800" dirty="0">
                <a:solidFill>
                  <a:schemeClr val="bg1"/>
                </a:solidFill>
                <a:cs typeface="Times New Roman" panose="02020603050405020304" pitchFamily="18" charset="0"/>
              </a:rPr>
              <a:t>1</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750614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6518"/>
            <a:ext cx="8229600" cy="1143000"/>
          </a:xfrm>
        </p:spPr>
        <p:txBody>
          <a:bodyPr>
            <a:normAutofit/>
          </a:bodyPr>
          <a:lstStyle/>
          <a:p>
            <a:pPr algn="l"/>
            <a:r>
              <a:rPr kumimoji="1" lang="en-US" altLang="zh-CN" sz="4000" dirty="0">
                <a:latin typeface="Calibri" panose="020F0502020204030204" pitchFamily="34" charset="0"/>
                <a:cs typeface="Calibri" panose="020F0502020204030204" pitchFamily="34" charset="0"/>
              </a:rPr>
              <a:t>Historical Realism?: Conclusion </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338668" y="893354"/>
            <a:ext cx="8723613" cy="5215748"/>
          </a:xfrm>
        </p:spPr>
        <p:txBody>
          <a:bodyPr>
            <a:normAutofit/>
          </a:bodyPr>
          <a:lstStyle/>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Realist visions of history are richer and more diverse than many of its critics and supporters often recognize.</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It takes history as a resource of understanding the trajectories that give rise to contemporary politics and also as a means of ethical, practical, and political reflection.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The lessons it teaches are not those of objective or structural determinism.</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dirty="0">
              <a:latin typeface="Calibri" panose="020F0502020204030204" pitchFamily="34" charset="0"/>
              <a:ea typeface="Tahoma" panose="020B0604030504040204" pitchFamily="34" charset="0"/>
              <a:cs typeface="Calibri" panose="020F0502020204030204" pitchFamily="34" charset="0"/>
            </a:endParaRPr>
          </a:p>
          <a:p>
            <a:endParaRPr kumimoji="1" lang="zh-CN" altLang="en-US" dirty="0"/>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36812"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zh-CN" sz="1800" dirty="0">
                <a:solidFill>
                  <a:schemeClr val="bg1"/>
                </a:solidFill>
                <a:cs typeface="Times New Roman" panose="02020603050405020304" pitchFamily="18" charset="0"/>
              </a:rPr>
              <a:t>2</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1779684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867" y="406518"/>
            <a:ext cx="9180812" cy="1143000"/>
          </a:xfrm>
        </p:spPr>
        <p:txBody>
          <a:bodyPr>
            <a:normAutofit fontScale="90000"/>
          </a:bodyPr>
          <a:lstStyle/>
          <a:p>
            <a:pPr algn="l"/>
            <a:r>
              <a:rPr kumimoji="1" lang="en-US" altLang="zh-CN" sz="4000" dirty="0">
                <a:latin typeface="Calibri" panose="020F0502020204030204" pitchFamily="34" charset="0"/>
                <a:cs typeface="Calibri" panose="020F0502020204030204" pitchFamily="34" charset="0"/>
              </a:rPr>
              <a:t>(2) Historicist Realism: Power and Contingency </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305406" y="1026402"/>
            <a:ext cx="8649987" cy="5215748"/>
          </a:xfrm>
        </p:spPr>
        <p:txBody>
          <a:bodyPr>
            <a:normAutofit fontScale="70000" lnSpcReduction="20000"/>
          </a:bodyPr>
          <a:lstStyle/>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err="1">
                <a:latin typeface="Calibri" panose="020F0502020204030204" pitchFamily="34" charset="0"/>
                <a:ea typeface="Tahoma" panose="020B0604030504040204" pitchFamily="34" charset="0"/>
                <a:cs typeface="Calibri" panose="020F0502020204030204" pitchFamily="34" charset="0"/>
              </a:rPr>
              <a:t>Carr</a:t>
            </a:r>
            <a:r>
              <a:rPr kumimoji="1" lang="en-US" altLang="zh-CN" sz="2800" dirty="0">
                <a:latin typeface="Calibri" panose="020F0502020204030204" pitchFamily="34" charset="0"/>
                <a:ea typeface="Tahoma" panose="020B0604030504040204" pitchFamily="34" charset="0"/>
                <a:cs typeface="Calibri" panose="020F0502020204030204" pitchFamily="34" charset="0"/>
              </a:rPr>
              <a:t> on liberalism’s intellectual errors: a historical critique</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(1) Their ideas were linked to dominant interest and actors (Britain) – not natural, rational, universal, and scientific</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(2) This ideology became dysfunctional when those who didn’t benefit from it rejected both the ideas and the order (Germany)</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Liberalism was a part of power politics – It is foolish and dangerous not to recognize its ideological function </a:t>
            </a:r>
            <a:r>
              <a:rPr kumimoji="1" lang="en-US" altLang="zh-CN" sz="2800" i="1" dirty="0">
                <a:solidFill>
                  <a:schemeClr val="accent1"/>
                </a:solidFill>
                <a:latin typeface="Calibri" panose="020F0502020204030204" pitchFamily="34" charset="0"/>
                <a:ea typeface="Tahoma" panose="020B0604030504040204" pitchFamily="34" charset="0"/>
                <a:cs typeface="Calibri" panose="020F0502020204030204" pitchFamily="34" charset="0"/>
              </a:rPr>
              <a:t>in the face of the new social and historical forces </a:t>
            </a:r>
            <a:r>
              <a:rPr kumimoji="1" lang="en-US" altLang="zh-CN" sz="2800" dirty="0">
                <a:latin typeface="Calibri" panose="020F0502020204030204" pitchFamily="34" charset="0"/>
                <a:ea typeface="Tahoma" panose="020B0604030504040204" pitchFamily="34" charset="0"/>
                <a:cs typeface="Calibri" panose="020F0502020204030204" pitchFamily="34" charset="0"/>
              </a:rPr>
              <a:t>– Robert Cox (1981) – social/economic shifts within and across states and systems at levels  (p. 38)</a:t>
            </a:r>
          </a:p>
          <a:p>
            <a:r>
              <a:rPr kumimoji="1" lang="en-US" altLang="zh-CN" sz="2800" dirty="0" err="1">
                <a:latin typeface="Calibri" panose="020F0502020204030204" pitchFamily="34" charset="0"/>
                <a:ea typeface="Tahoma" panose="020B0604030504040204" pitchFamily="34" charset="0"/>
                <a:cs typeface="Calibri" panose="020F0502020204030204" pitchFamily="34" charset="0"/>
              </a:rPr>
              <a:t>Carr’s</a:t>
            </a:r>
            <a:r>
              <a:rPr kumimoji="1" lang="en-US" altLang="zh-CN" sz="2800" dirty="0">
                <a:latin typeface="Calibri" panose="020F0502020204030204" pitchFamily="34" charset="0"/>
                <a:ea typeface="Tahoma" panose="020B0604030504040204" pitchFamily="34" charset="0"/>
                <a:cs typeface="Calibri" panose="020F0502020204030204" pitchFamily="34" charset="0"/>
              </a:rPr>
              <a:t> focus on social forces, including capitalism, nationalism, and mass politics as well as states in and between international orders</a:t>
            </a:r>
          </a:p>
          <a:p>
            <a:r>
              <a:rPr kumimoji="1" lang="en-US" altLang="zh-CN" sz="2800" dirty="0">
                <a:solidFill>
                  <a:schemeClr val="accent1"/>
                </a:solidFill>
                <a:latin typeface="Calibri" panose="020F0502020204030204" pitchFamily="34" charset="0"/>
                <a:ea typeface="Tahoma" panose="020B0604030504040204" pitchFamily="34" charset="0"/>
                <a:cs typeface="Calibri" panose="020F0502020204030204" pitchFamily="34" charset="0"/>
              </a:rPr>
              <a:t>Political realism embraces studying states and social forces in specific places and analyses of macro-historical transformations in modernity, including the changing structures of capitalism and technology, and shifting forms of political mobilization and representation. </a:t>
            </a:r>
          </a:p>
          <a:p>
            <a:endParaRPr kumimoji="1" lang="en-US" altLang="zh-CN" sz="2800" i="1" dirty="0">
              <a:solidFill>
                <a:schemeClr val="accent1"/>
              </a:solidFill>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dirty="0">
              <a:latin typeface="Calibri" panose="020F0502020204030204" pitchFamily="34" charset="0"/>
              <a:ea typeface="Tahoma" panose="020B0604030504040204" pitchFamily="34" charset="0"/>
              <a:cs typeface="Calibri" panose="020F0502020204030204" pitchFamily="34" charset="0"/>
            </a:endParaRPr>
          </a:p>
          <a:p>
            <a:endParaRPr kumimoji="1" lang="zh-CN" altLang="en-US" dirty="0"/>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zh-CN" sz="1800" dirty="0">
                <a:solidFill>
                  <a:schemeClr val="bg1"/>
                </a:solidFill>
                <a:cs typeface="Times New Roman" panose="02020603050405020304" pitchFamily="18" charset="0"/>
              </a:rPr>
              <a:t>3</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1335511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867" y="406518"/>
            <a:ext cx="9180812" cy="1143000"/>
          </a:xfrm>
        </p:spPr>
        <p:txBody>
          <a:bodyPr>
            <a:normAutofit fontScale="90000"/>
          </a:bodyPr>
          <a:lstStyle/>
          <a:p>
            <a:pPr algn="l"/>
            <a:r>
              <a:rPr kumimoji="1" lang="en-US" altLang="zh-CN" sz="4000" dirty="0">
                <a:latin typeface="Calibri" panose="020F0502020204030204" pitchFamily="34" charset="0"/>
                <a:cs typeface="Calibri" panose="020F0502020204030204" pitchFamily="34" charset="0"/>
              </a:rPr>
              <a:t>(2) Historicist Realism: Power and Contingency </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321735" y="1124370"/>
            <a:ext cx="8649987" cy="5215748"/>
          </a:xfrm>
        </p:spPr>
        <p:txBody>
          <a:bodyPr>
            <a:normAutofit/>
          </a:bodyPr>
          <a:lstStyle/>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err="1">
                <a:latin typeface="Calibri" panose="020F0502020204030204" pitchFamily="34" charset="0"/>
                <a:ea typeface="Tahoma" panose="020B0604030504040204" pitchFamily="34" charset="0"/>
                <a:cs typeface="Calibri" panose="020F0502020204030204" pitchFamily="34" charset="0"/>
              </a:rPr>
              <a:t>Carr’s</a:t>
            </a:r>
            <a:r>
              <a:rPr kumimoji="1" lang="en-US" altLang="zh-CN" sz="2800" dirty="0">
                <a:latin typeface="Calibri" panose="020F0502020204030204" pitchFamily="34" charset="0"/>
                <a:ea typeface="Tahoma" panose="020B0604030504040204" pitchFamily="34" charset="0"/>
                <a:cs typeface="Calibri" panose="020F0502020204030204" pitchFamily="34" charset="0"/>
              </a:rPr>
              <a:t> vision of (relativist) historical knowledge</a:t>
            </a: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the subjectivity of the historian + the interpretations, affects, and values conditioning the actions of the historical agents being studied</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History becomes not only a story of power politics: the practices of historians are a form of power and a part of power politics.</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dirty="0">
              <a:latin typeface="Calibri" panose="020F0502020204030204" pitchFamily="34" charset="0"/>
              <a:ea typeface="Tahoma" panose="020B0604030504040204" pitchFamily="34" charset="0"/>
              <a:cs typeface="Calibri" panose="020F0502020204030204" pitchFamily="34" charset="0"/>
            </a:endParaRPr>
          </a:p>
          <a:p>
            <a:endParaRPr kumimoji="1" lang="zh-CN" altLang="en-US" dirty="0"/>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zh-CN" sz="1800" dirty="0">
                <a:solidFill>
                  <a:schemeClr val="bg1"/>
                </a:solidFill>
                <a:cs typeface="Times New Roman" panose="02020603050405020304" pitchFamily="18" charset="0"/>
              </a:rPr>
              <a:t>4</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1227179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867" y="406518"/>
            <a:ext cx="9180812" cy="1143000"/>
          </a:xfrm>
        </p:spPr>
        <p:txBody>
          <a:bodyPr>
            <a:normAutofit fontScale="90000"/>
          </a:bodyPr>
          <a:lstStyle/>
          <a:p>
            <a:pPr algn="l"/>
            <a:r>
              <a:rPr kumimoji="1" lang="en-US" altLang="zh-CN" sz="4000" dirty="0">
                <a:latin typeface="Calibri" panose="020F0502020204030204" pitchFamily="34" charset="0"/>
                <a:cs typeface="Calibri" panose="020F0502020204030204" pitchFamily="34" charset="0"/>
              </a:rPr>
              <a:t>(2) Historicist Realism: Power and Contingency </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321735" y="1124370"/>
            <a:ext cx="8649987" cy="5215748"/>
          </a:xfrm>
        </p:spPr>
        <p:txBody>
          <a:bodyPr>
            <a:normAutofit fontScale="92500" lnSpcReduction="10000"/>
          </a:bodyPr>
          <a:lstStyle/>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Morgenthau’s critique on </a:t>
            </a:r>
            <a:r>
              <a:rPr kumimoji="1" lang="en-US" altLang="zh-CN" sz="2800" dirty="0" err="1">
                <a:latin typeface="Calibri" panose="020F0502020204030204" pitchFamily="34" charset="0"/>
                <a:ea typeface="Tahoma" panose="020B0604030504040204" pitchFamily="34" charset="0"/>
                <a:cs typeface="Calibri" panose="020F0502020204030204" pitchFamily="34" charset="0"/>
              </a:rPr>
              <a:t>Carr’s</a:t>
            </a:r>
            <a:r>
              <a:rPr kumimoji="1" lang="en-US" altLang="zh-CN" sz="2800" dirty="0">
                <a:latin typeface="Calibri" panose="020F0502020204030204" pitchFamily="34" charset="0"/>
                <a:ea typeface="Tahoma" panose="020B0604030504040204" pitchFamily="34" charset="0"/>
                <a:cs typeface="Calibri" panose="020F0502020204030204" pitchFamily="34" charset="0"/>
              </a:rPr>
              <a:t> potential reductionism</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a:t>
            </a:r>
            <a:r>
              <a:rPr kumimoji="1" lang="en-US" altLang="zh-CN" sz="2800" dirty="0" err="1">
                <a:latin typeface="Calibri" panose="020F0502020204030204" pitchFamily="34" charset="0"/>
                <a:ea typeface="Tahoma" panose="020B0604030504040204" pitchFamily="34" charset="0"/>
                <a:cs typeface="Calibri" panose="020F0502020204030204" pitchFamily="34" charset="0"/>
              </a:rPr>
              <a:t>Carr</a:t>
            </a:r>
            <a:r>
              <a:rPr kumimoji="1" lang="en-US" altLang="zh-CN" sz="2800" dirty="0">
                <a:latin typeface="Calibri" panose="020F0502020204030204" pitchFamily="34" charset="0"/>
                <a:ea typeface="Tahoma" panose="020B0604030504040204" pitchFamily="34" charset="0"/>
                <a:cs typeface="Calibri" panose="020F0502020204030204" pitchFamily="34" charset="0"/>
              </a:rPr>
              <a:t> has </a:t>
            </a:r>
            <a:r>
              <a:rPr kumimoji="1" lang="en-US" altLang="zh-CN" sz="2800" i="1" dirty="0">
                <a:solidFill>
                  <a:schemeClr val="accent5"/>
                </a:solidFill>
                <a:latin typeface="Calibri" panose="020F0502020204030204" pitchFamily="34" charset="0"/>
                <a:ea typeface="Tahoma" panose="020B0604030504040204" pitchFamily="34" charset="0"/>
                <a:cs typeface="Calibri" panose="020F0502020204030204" pitchFamily="34" charset="0"/>
              </a:rPr>
              <a:t>no transcendent point of view </a:t>
            </a:r>
            <a:r>
              <a:rPr kumimoji="1" lang="en-US" altLang="zh-CN" sz="2800" dirty="0">
                <a:latin typeface="Calibri" panose="020F0502020204030204" pitchFamily="34" charset="0"/>
                <a:ea typeface="Tahoma" panose="020B0604030504040204" pitchFamily="34" charset="0"/>
                <a:cs typeface="Calibri" panose="020F0502020204030204" pitchFamily="34" charset="0"/>
              </a:rPr>
              <a:t>from which to survey the political scene and to appraise the phenomenon of power…Whoever holds seeming superiority of power becomes of necessity the repository of superior morality as well. Power thus corrupts not only the actor on the political scene, but even the observer, unfortified by </a:t>
            </a:r>
            <a:r>
              <a:rPr kumimoji="1" lang="en-US" altLang="zh-CN" sz="2800" i="1" dirty="0">
                <a:solidFill>
                  <a:schemeClr val="accent5"/>
                </a:solidFill>
                <a:latin typeface="Calibri" panose="020F0502020204030204" pitchFamily="34" charset="0"/>
                <a:ea typeface="Tahoma" panose="020B0604030504040204" pitchFamily="34" charset="0"/>
                <a:cs typeface="Calibri" panose="020F0502020204030204" pitchFamily="34" charset="0"/>
              </a:rPr>
              <a:t>a transcendent standard of ethics</a:t>
            </a:r>
            <a:r>
              <a:rPr kumimoji="1" lang="en-US" altLang="zh-CN" sz="2800" dirty="0">
                <a:latin typeface="Calibri" panose="020F0502020204030204" pitchFamily="34" charset="0"/>
                <a:ea typeface="Tahoma" panose="020B0604030504040204" pitchFamily="34" charset="0"/>
                <a:cs typeface="Calibri" panose="020F0502020204030204" pitchFamily="34" charset="0"/>
              </a:rPr>
              <a:t>. Mr. </a:t>
            </a:r>
            <a:r>
              <a:rPr kumimoji="1" lang="en-US" altLang="zh-CN" sz="2800" dirty="0" err="1">
                <a:latin typeface="Calibri" panose="020F0502020204030204" pitchFamily="34" charset="0"/>
                <a:ea typeface="Tahoma" panose="020B0604030504040204" pitchFamily="34" charset="0"/>
                <a:cs typeface="Calibri" panose="020F0502020204030204" pitchFamily="34" charset="0"/>
              </a:rPr>
              <a:t>Carr</a:t>
            </a:r>
            <a:r>
              <a:rPr kumimoji="1" lang="en-US" altLang="zh-CN" sz="2800" dirty="0">
                <a:latin typeface="Calibri" panose="020F0502020204030204" pitchFamily="34" charset="0"/>
                <a:ea typeface="Tahoma" panose="020B0604030504040204" pitchFamily="34" charset="0"/>
                <a:cs typeface="Calibri" panose="020F0502020204030204" pitchFamily="34" charset="0"/>
              </a:rPr>
              <a:t> might have learned that lesson from the fate of </a:t>
            </a:r>
            <a:r>
              <a:rPr kumimoji="1" lang="en-US" altLang="zh-CN" sz="2800" dirty="0">
                <a:solidFill>
                  <a:schemeClr val="accent1"/>
                </a:solidFill>
                <a:latin typeface="Calibri" panose="020F0502020204030204" pitchFamily="34" charset="0"/>
                <a:ea typeface="Tahoma" panose="020B0604030504040204" pitchFamily="34" charset="0"/>
                <a:cs typeface="Calibri" panose="020F0502020204030204" pitchFamily="34" charset="0"/>
              </a:rPr>
              <a:t>the political romantics</a:t>
            </a:r>
            <a:r>
              <a:rPr kumimoji="1" lang="en-US" altLang="zh-CN" sz="2800" dirty="0">
                <a:latin typeface="Calibri" panose="020F0502020204030204" pitchFamily="34" charset="0"/>
                <a:ea typeface="Tahoma" panose="020B0604030504040204" pitchFamily="34" charset="0"/>
                <a:cs typeface="Calibri" panose="020F0502020204030204" pitchFamily="34" charset="0"/>
              </a:rPr>
              <a:t>…</a:t>
            </a:r>
            <a:r>
              <a:rPr kumimoji="1" lang="en-US" altLang="zh-CN" sz="2800" dirty="0">
                <a:solidFill>
                  <a:schemeClr val="accent1"/>
                </a:solidFill>
                <a:latin typeface="Calibri" panose="020F0502020204030204" pitchFamily="34" charset="0"/>
                <a:ea typeface="Tahoma" panose="020B0604030504040204" pitchFamily="34" charset="0"/>
                <a:cs typeface="Calibri" panose="020F0502020204030204" pitchFamily="34" charset="0"/>
              </a:rPr>
              <a:t>Adam Muller and Carl Schmitt</a:t>
            </a:r>
            <a:r>
              <a:rPr kumimoji="1" lang="en-US" altLang="zh-CN" sz="2800" dirty="0">
                <a:latin typeface="Calibri" panose="020F0502020204030204" pitchFamily="34" charset="0"/>
                <a:ea typeface="Tahoma" panose="020B0604030504040204" pitchFamily="34" charset="0"/>
                <a:cs typeface="Calibri" panose="020F0502020204030204" pitchFamily="34" charset="0"/>
              </a:rPr>
              <a:t>…It is a disastrous thing to be a Machiavelli without virtue…” (Morgenthau, 1948)</a:t>
            </a: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dirty="0">
              <a:latin typeface="Calibri" panose="020F0502020204030204" pitchFamily="34" charset="0"/>
              <a:ea typeface="Tahoma" panose="020B0604030504040204" pitchFamily="34" charset="0"/>
              <a:cs typeface="Calibri" panose="020F0502020204030204" pitchFamily="34" charset="0"/>
            </a:endParaRPr>
          </a:p>
          <a:p>
            <a:endParaRPr kumimoji="1" lang="zh-CN" altLang="en-US" dirty="0"/>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zh-CN" sz="1800" dirty="0">
                <a:solidFill>
                  <a:schemeClr val="bg1"/>
                </a:solidFill>
                <a:cs typeface="Times New Roman" panose="02020603050405020304" pitchFamily="18" charset="0"/>
              </a:rPr>
              <a:t>5</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4175602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6518"/>
            <a:ext cx="8229600" cy="1143000"/>
          </a:xfrm>
        </p:spPr>
        <p:txBody>
          <a:bodyPr>
            <a:normAutofit fontScale="90000"/>
          </a:bodyPr>
          <a:lstStyle/>
          <a:p>
            <a:pPr algn="l"/>
            <a:r>
              <a:rPr kumimoji="1" lang="en-US" altLang="zh-CN" sz="4000" dirty="0">
                <a:latin typeface="Calibri" panose="020F0502020204030204" pitchFamily="34" charset="0"/>
                <a:cs typeface="Calibri" panose="020F0502020204030204" pitchFamily="34" charset="0"/>
              </a:rPr>
              <a:t>(3) Modernity as an epoch and its dangers</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457199" y="1487086"/>
            <a:ext cx="8429625" cy="5215748"/>
          </a:xfrm>
        </p:spPr>
        <p:txBody>
          <a:bodyPr>
            <a:normAutofit/>
          </a:bodyPr>
          <a:lstStyle/>
          <a:p>
            <a:r>
              <a:rPr kumimoji="1" lang="en-US" altLang="zh-CN" sz="2800" dirty="0">
                <a:latin typeface="Calibri" panose="020F0502020204030204" pitchFamily="34" charset="0"/>
                <a:ea typeface="Tahoma" panose="020B0604030504040204" pitchFamily="34" charset="0"/>
                <a:cs typeface="Calibri" panose="020F0502020204030204" pitchFamily="34" charset="0"/>
              </a:rPr>
              <a:t>Schmitt’s view that the essence of politics lies not in  a particular set of issues of institutions but in a specific stance toward them provides a backdrop against which important dimensions of classical realism developed in the postwar era.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Any issue is thus capable of becoming ‘political.’</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But </a:t>
            </a:r>
            <a:r>
              <a:rPr kumimoji="1" lang="en-US" altLang="zh-CN" sz="2800" dirty="0">
                <a:solidFill>
                  <a:schemeClr val="accent1"/>
                </a:solidFill>
                <a:latin typeface="Calibri" panose="020F0502020204030204" pitchFamily="34" charset="0"/>
                <a:ea typeface="Tahoma" panose="020B0604030504040204" pitchFamily="34" charset="0"/>
                <a:cs typeface="Calibri" panose="020F0502020204030204" pitchFamily="34" charset="0"/>
              </a:rPr>
              <a:t>classical realists do not go far as to endorse Schmitt’s reductionism associated with the distinction between friends and enemies</a:t>
            </a:r>
            <a:r>
              <a:rPr kumimoji="1" lang="en-US" altLang="zh-CN" sz="2800" dirty="0">
                <a:latin typeface="Calibri" panose="020F0502020204030204" pitchFamily="34" charset="0"/>
                <a:ea typeface="Tahoma" panose="020B0604030504040204" pitchFamily="34" charset="0"/>
                <a:cs typeface="Calibri" panose="020F0502020204030204" pitchFamily="34" charset="0"/>
              </a:rPr>
              <a:t>.</a:t>
            </a:r>
          </a:p>
          <a:p>
            <a:pPr marL="0" indent="0">
              <a:buNone/>
            </a:pPr>
            <a:endParaRPr kumimoji="1" lang="en-US" altLang="zh-CN" dirty="0">
              <a:latin typeface="Calibri" panose="020F0502020204030204" pitchFamily="34" charset="0"/>
              <a:ea typeface="Tahoma" panose="020B0604030504040204" pitchFamily="34" charset="0"/>
              <a:cs typeface="Calibri" panose="020F0502020204030204" pitchFamily="34" charset="0"/>
            </a:endParaRPr>
          </a:p>
          <a:p>
            <a:endParaRPr kumimoji="1" lang="zh-CN" altLang="en-US" dirty="0"/>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zh-CN" sz="1800" dirty="0">
                <a:solidFill>
                  <a:schemeClr val="bg1"/>
                </a:solidFill>
                <a:cs typeface="Times New Roman" panose="02020603050405020304" pitchFamily="18" charset="0"/>
              </a:rPr>
              <a:t>6</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2264146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6518"/>
            <a:ext cx="8229600" cy="1143000"/>
          </a:xfrm>
        </p:spPr>
        <p:txBody>
          <a:bodyPr>
            <a:normAutofit fontScale="90000"/>
          </a:bodyPr>
          <a:lstStyle/>
          <a:p>
            <a:pPr algn="l"/>
            <a:r>
              <a:rPr kumimoji="1" lang="en-US" altLang="zh-CN" sz="4000" dirty="0">
                <a:latin typeface="Calibri" panose="020F0502020204030204" pitchFamily="34" charset="0"/>
                <a:cs typeface="Calibri" panose="020F0502020204030204" pitchFamily="34" charset="0"/>
              </a:rPr>
              <a:t>(4) Modernity as an epoch and its dangers</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501443" y="1386150"/>
            <a:ext cx="8429625" cy="5215748"/>
          </a:xfrm>
        </p:spPr>
        <p:txBody>
          <a:bodyPr>
            <a:normAutofit fontScale="92500"/>
          </a:bodyPr>
          <a:lstStyle/>
          <a:p>
            <a:r>
              <a:rPr kumimoji="1" lang="en-US" altLang="zh-CN" sz="2800" dirty="0">
                <a:latin typeface="Calibri" panose="020F0502020204030204" pitchFamily="34" charset="0"/>
                <a:ea typeface="Tahoma" panose="020B0604030504040204" pitchFamily="34" charset="0"/>
                <a:cs typeface="Calibri" panose="020F0502020204030204" pitchFamily="34" charset="0"/>
              </a:rPr>
              <a:t>(1) Classical realism (influenced by Max Weber) understands the historical emergence of modernity as an epoch where manifestations of ‘political’ logics took on new and more destructive forms.</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(2) Rejecting Schmitt’s identification of politics solely within a logic of friends and enemies and seeking </a:t>
            </a:r>
            <a:r>
              <a:rPr kumimoji="1" lang="en-US" altLang="zh-CN" sz="2800" i="1" dirty="0">
                <a:solidFill>
                  <a:schemeClr val="accent1"/>
                </a:solidFill>
                <a:latin typeface="Calibri" panose="020F0502020204030204" pitchFamily="34" charset="0"/>
                <a:ea typeface="Tahoma" panose="020B0604030504040204" pitchFamily="34" charset="0"/>
                <a:cs typeface="Calibri" panose="020F0502020204030204" pitchFamily="34" charset="0"/>
              </a:rPr>
              <a:t>an alternative in an uneasy mixture of appeals to principles beyond history – to principles of natural right –or in the historical resuscitation of republican democracy, or both</a:t>
            </a:r>
            <a:r>
              <a:rPr kumimoji="1" lang="en-US" altLang="zh-CN" sz="2800" dirty="0">
                <a:latin typeface="Calibri" panose="020F0502020204030204" pitchFamily="34" charset="0"/>
                <a:ea typeface="Tahoma" panose="020B0604030504040204" pitchFamily="34" charset="0"/>
                <a:cs typeface="Calibri" panose="020F0502020204030204" pitchFamily="34" charset="0"/>
              </a:rPr>
              <a:t>.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The introduction of nuclear weapons - </a:t>
            </a:r>
            <a:r>
              <a:rPr kumimoji="1" lang="en-US" altLang="zh-CN" sz="2800" i="1" dirty="0">
                <a:solidFill>
                  <a:schemeClr val="accent1"/>
                </a:solidFill>
                <a:latin typeface="Calibri" panose="020F0502020204030204" pitchFamily="34" charset="0"/>
                <a:ea typeface="Tahoma" panose="020B0604030504040204" pitchFamily="34" charset="0"/>
                <a:cs typeface="Calibri" panose="020F0502020204030204" pitchFamily="34" charset="0"/>
              </a:rPr>
              <a:t>demanding alternative ways of ordering international political life</a:t>
            </a:r>
            <a:r>
              <a:rPr kumimoji="1" lang="en-US" altLang="zh-CN" sz="2800" dirty="0">
                <a:latin typeface="Calibri" panose="020F0502020204030204" pitchFamily="34" charset="0"/>
                <a:ea typeface="Tahoma" panose="020B0604030504040204" pitchFamily="34" charset="0"/>
                <a:cs typeface="Calibri" panose="020F0502020204030204" pitchFamily="34" charset="0"/>
              </a:rPr>
              <a:t>.</a:t>
            </a:r>
          </a:p>
          <a:p>
            <a:pPr marL="0" indent="0">
              <a:buNone/>
            </a:pPr>
            <a:endParaRPr kumimoji="1" lang="en-US" altLang="zh-CN" dirty="0">
              <a:latin typeface="Calibri" panose="020F0502020204030204" pitchFamily="34" charset="0"/>
              <a:ea typeface="Tahoma" panose="020B0604030504040204" pitchFamily="34" charset="0"/>
              <a:cs typeface="Calibri" panose="020F0502020204030204" pitchFamily="34" charset="0"/>
            </a:endParaRPr>
          </a:p>
          <a:p>
            <a:endParaRPr kumimoji="1" lang="zh-CN" altLang="en-US" dirty="0"/>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zh-CN" sz="1800" dirty="0">
                <a:solidFill>
                  <a:schemeClr val="bg1"/>
                </a:solidFill>
                <a:cs typeface="Times New Roman" panose="02020603050405020304" pitchFamily="18" charset="0"/>
              </a:rPr>
              <a:t>7</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600225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6518"/>
            <a:ext cx="8229600" cy="1143000"/>
          </a:xfrm>
        </p:spPr>
        <p:txBody>
          <a:bodyPr>
            <a:normAutofit fontScale="90000"/>
          </a:bodyPr>
          <a:lstStyle/>
          <a:p>
            <a:pPr algn="l"/>
            <a:r>
              <a:rPr kumimoji="1" lang="en-US" altLang="zh-CN" sz="4000" dirty="0">
                <a:latin typeface="Calibri" panose="020F0502020204030204" pitchFamily="34" charset="0"/>
                <a:cs typeface="Calibri" panose="020F0502020204030204" pitchFamily="34" charset="0"/>
              </a:rPr>
              <a:t>(4) Modernity as an epoch and its dangers</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185731" y="1471066"/>
            <a:ext cx="9001126" cy="5215748"/>
          </a:xfrm>
        </p:spPr>
        <p:txBody>
          <a:bodyPr>
            <a:normAutofit lnSpcReduction="10000"/>
          </a:bodyPr>
          <a:lstStyle/>
          <a:p>
            <a:r>
              <a:rPr kumimoji="1" lang="en-US" altLang="zh-CN" sz="2800" dirty="0">
                <a:latin typeface="Calibri" panose="020F0502020204030204" pitchFamily="34" charset="0"/>
                <a:ea typeface="Tahoma" panose="020B0604030504040204" pitchFamily="34" charset="0"/>
                <a:cs typeface="Calibri" panose="020F0502020204030204" pitchFamily="34" charset="0"/>
              </a:rPr>
              <a:t>Pre-modern era: the visions of political obligation, hierarchy, commonality that structured medieval Christendom – extended into early modern states (the balance of power) – Sovereignty based in mutually recognized claims to the legitimacy of divine right amongst monarchs – a basis of domestic and international order </a:t>
            </a: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The principles of the Enlightenment underlined the foundations of this system – disconnected from the sense of </a:t>
            </a:r>
            <a:r>
              <a:rPr kumimoji="1" lang="en-US" altLang="zh-CN" sz="2800" dirty="0">
                <a:solidFill>
                  <a:schemeClr val="accent1"/>
                </a:solidFill>
                <a:latin typeface="Calibri" panose="020F0502020204030204" pitchFamily="34" charset="0"/>
                <a:ea typeface="Tahoma" panose="020B0604030504040204" pitchFamily="34" charset="0"/>
                <a:cs typeface="Calibri" panose="020F0502020204030204" pitchFamily="34" charset="0"/>
              </a:rPr>
              <a:t>a larger order </a:t>
            </a:r>
            <a:r>
              <a:rPr kumimoji="1" lang="en-US" altLang="zh-CN" sz="2800" dirty="0">
                <a:latin typeface="Calibri" panose="020F0502020204030204" pitchFamily="34" charset="0"/>
                <a:ea typeface="Tahoma" panose="020B0604030504040204" pitchFamily="34" charset="0"/>
                <a:cs typeface="Calibri" panose="020F0502020204030204" pitchFamily="34" charset="0"/>
              </a:rPr>
              <a:t>– modern humanity finds itself adrift in an anomic social and existential void – yet embraces almost unlimited will to power and self-realization</a:t>
            </a:r>
          </a:p>
          <a:p>
            <a:pPr marL="0" indent="0">
              <a:buNone/>
            </a:pPr>
            <a:endParaRPr kumimoji="1" lang="en-US" altLang="zh-CN" dirty="0">
              <a:latin typeface="Calibri" panose="020F0502020204030204" pitchFamily="34" charset="0"/>
              <a:ea typeface="Tahoma" panose="020B0604030504040204" pitchFamily="34" charset="0"/>
              <a:cs typeface="Calibri" panose="020F0502020204030204" pitchFamily="34" charset="0"/>
            </a:endParaRPr>
          </a:p>
          <a:p>
            <a:endParaRPr kumimoji="1" lang="zh-CN" altLang="en-US" dirty="0"/>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zh-CN" sz="1800" dirty="0">
                <a:solidFill>
                  <a:schemeClr val="bg1"/>
                </a:solidFill>
                <a:cs typeface="Times New Roman" panose="02020603050405020304" pitchFamily="18" charset="0"/>
              </a:rPr>
              <a:t>8</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4202988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6518"/>
            <a:ext cx="8229600" cy="1143000"/>
          </a:xfrm>
        </p:spPr>
        <p:txBody>
          <a:bodyPr>
            <a:normAutofit fontScale="90000"/>
          </a:bodyPr>
          <a:lstStyle/>
          <a:p>
            <a:pPr algn="l"/>
            <a:r>
              <a:rPr kumimoji="1" lang="en-US" altLang="zh-CN" sz="4000" dirty="0">
                <a:latin typeface="Calibri" panose="020F0502020204030204" pitchFamily="34" charset="0"/>
                <a:cs typeface="Calibri" panose="020F0502020204030204" pitchFamily="34" charset="0"/>
              </a:rPr>
              <a:t>(4) Modernity as an epoch and its dangers</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185731" y="1484921"/>
            <a:ext cx="9001126" cy="5215748"/>
          </a:xfrm>
        </p:spPr>
        <p:txBody>
          <a:bodyPr>
            <a:normAutofit/>
          </a:bodyPr>
          <a:lstStyle/>
          <a:p>
            <a:r>
              <a:rPr kumimoji="1" lang="en-US" altLang="zh-CN" sz="2800" dirty="0">
                <a:latin typeface="Calibri" panose="020F0502020204030204" pitchFamily="34" charset="0"/>
                <a:ea typeface="Tahoma" panose="020B0604030504040204" pitchFamily="34" charset="0"/>
                <a:cs typeface="Calibri" panose="020F0502020204030204" pitchFamily="34" charset="0"/>
              </a:rPr>
              <a:t>The development of </a:t>
            </a:r>
            <a:r>
              <a:rPr kumimoji="1" lang="en-US" altLang="zh-CN" sz="2800" dirty="0">
                <a:solidFill>
                  <a:schemeClr val="accent1"/>
                </a:solidFill>
                <a:latin typeface="Calibri" panose="020F0502020204030204" pitchFamily="34" charset="0"/>
                <a:ea typeface="Tahoma" panose="020B0604030504040204" pitchFamily="34" charset="0"/>
                <a:cs typeface="Calibri" panose="020F0502020204030204" pitchFamily="34" charset="0"/>
              </a:rPr>
              <a:t>the nation-state: a novel and powerfully destructive new historical force</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Lacking a divine or other objective standard or order, the nation emerges as both the fulfillment of the individual and an agent with a national historical destiny.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“The growing insecurity of the individuals in Western society, especially in the lower strata, and the atomization of Western society…in turn has given rise to an increased desire for compensatory identification with the collective national aspiration for power…” (Morgenthau, 1967)</a:t>
            </a:r>
          </a:p>
          <a:p>
            <a:endParaRPr kumimoji="1" lang="en-US" altLang="zh-CN" dirty="0">
              <a:latin typeface="Calibri" panose="020F0502020204030204" pitchFamily="34" charset="0"/>
              <a:ea typeface="Tahoma" panose="020B0604030504040204" pitchFamily="34" charset="0"/>
              <a:cs typeface="Calibri" panose="020F0502020204030204" pitchFamily="34" charset="0"/>
            </a:endParaRPr>
          </a:p>
          <a:p>
            <a:endParaRPr kumimoji="1" lang="zh-CN" altLang="en-US" dirty="0"/>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zh-CN" sz="1800" dirty="0">
                <a:solidFill>
                  <a:schemeClr val="bg1"/>
                </a:solidFill>
                <a:cs typeface="Times New Roman" panose="02020603050405020304" pitchFamily="18" charset="0"/>
              </a:rPr>
              <a:t>9</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3048061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6518"/>
            <a:ext cx="8229600" cy="1143000"/>
          </a:xfrm>
        </p:spPr>
        <p:txBody>
          <a:bodyPr>
            <a:normAutofit fontScale="90000"/>
          </a:bodyPr>
          <a:lstStyle/>
          <a:p>
            <a:pPr algn="l"/>
            <a:r>
              <a:rPr kumimoji="1" lang="en-US" altLang="zh-CN" sz="4000" dirty="0">
                <a:latin typeface="Calibri" panose="020F0502020204030204" pitchFamily="34" charset="0"/>
                <a:cs typeface="Calibri" panose="020F0502020204030204" pitchFamily="34" charset="0"/>
              </a:rPr>
              <a:t>(4) Modernity as an epoch and its dangers</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185731" y="1527338"/>
            <a:ext cx="9001126" cy="5215748"/>
          </a:xfrm>
        </p:spPr>
        <p:txBody>
          <a:bodyPr>
            <a:normAutofit/>
          </a:bodyPr>
          <a:lstStyle/>
          <a:p>
            <a:r>
              <a:rPr kumimoji="1" lang="en-US" altLang="zh-CN" sz="2800" dirty="0">
                <a:latin typeface="Calibri" panose="020F0502020204030204" pitchFamily="34" charset="0"/>
                <a:ea typeface="Tahoma" panose="020B0604030504040204" pitchFamily="34" charset="0"/>
                <a:cs typeface="Calibri" panose="020F0502020204030204" pitchFamily="34" charset="0"/>
              </a:rPr>
              <a:t>Thus, much of the Enlightenment vision of the gradual historical triumph of reason was positively dangerous.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Science was not only a progressive force, and neither were those social scientific theories that took it as a model for emulation.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Modern progress was not spurious but came with high costs and the risk of exporting the pathologies of modern sovereignty. The perils of modern politics in terms of technological reach and its place at the existential heart of modernity itself.</a:t>
            </a:r>
            <a:endParaRPr kumimoji="1" lang="en-US" altLang="zh-CN" dirty="0">
              <a:latin typeface="Calibri" panose="020F0502020204030204" pitchFamily="34" charset="0"/>
              <a:ea typeface="Tahoma" panose="020B0604030504040204" pitchFamily="34" charset="0"/>
              <a:cs typeface="Calibri" panose="020F0502020204030204" pitchFamily="34" charset="0"/>
            </a:endParaRPr>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zh-CN" sz="1800" dirty="0">
                <a:solidFill>
                  <a:schemeClr val="bg1"/>
                </a:solidFill>
                <a:cs typeface="Times New Roman" panose="02020603050405020304" pitchFamily="18" charset="0"/>
              </a:rPr>
              <a:t>10</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2349663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6518"/>
            <a:ext cx="8229600" cy="1143000"/>
          </a:xfrm>
        </p:spPr>
        <p:txBody>
          <a:bodyPr>
            <a:normAutofit/>
          </a:bodyPr>
          <a:lstStyle/>
          <a:p>
            <a:pPr algn="l"/>
            <a:r>
              <a:rPr kumimoji="1" lang="en-US" altLang="zh-CN" sz="4000" dirty="0">
                <a:latin typeface="Calibri" panose="020F0502020204030204" pitchFamily="34" charset="0"/>
                <a:cs typeface="Calibri" panose="020F0502020204030204" pitchFamily="34" charset="0"/>
              </a:rPr>
              <a:t>Conclusion + A few thoughts</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185731" y="1679742"/>
            <a:ext cx="8695033" cy="4707205"/>
          </a:xfrm>
        </p:spPr>
        <p:txBody>
          <a:bodyPr>
            <a:normAutofit fontScale="70000" lnSpcReduction="20000"/>
          </a:bodyPr>
          <a:lstStyle/>
          <a:p>
            <a:r>
              <a:rPr kumimoji="1" lang="en-US" altLang="zh-CN" sz="2800" dirty="0">
                <a:latin typeface="Calibri" panose="020F0502020204030204" pitchFamily="34" charset="0"/>
                <a:ea typeface="Tahoma" panose="020B0604030504040204" pitchFamily="34" charset="0"/>
                <a:cs typeface="Calibri" panose="020F0502020204030204" pitchFamily="34" charset="0"/>
              </a:rPr>
              <a:t>A transcendent point of view/ standard of ethics? A larger order?</a:t>
            </a:r>
          </a:p>
          <a:p>
            <a:pPr marL="0" indent="0">
              <a:buNone/>
            </a:pPr>
            <a:r>
              <a:rPr kumimoji="1" lang="en-US" altLang="zh-CN" sz="2800" dirty="0">
                <a:latin typeface="Calibri" panose="020F0502020204030204" pitchFamily="34" charset="0"/>
                <a:ea typeface="Tahoma" panose="020B0604030504040204" pitchFamily="34" charset="0"/>
                <a:cs typeface="Calibri" panose="020F0502020204030204" pitchFamily="34" charset="0"/>
              </a:rPr>
              <a:t>    -Classical realists don’t give up on democracy/republican ideas.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An alternative vision of politics that doesn’t fall into reductionism?</a:t>
            </a:r>
          </a:p>
          <a:p>
            <a:pPr marL="0" indent="0">
              <a:buNone/>
            </a:pPr>
            <a:r>
              <a:rPr kumimoji="1" lang="en-US" altLang="zh-CN" sz="2800" dirty="0">
                <a:latin typeface="Calibri" panose="020F0502020204030204" pitchFamily="34" charset="0"/>
                <a:ea typeface="Tahoma" panose="020B0604030504040204" pitchFamily="34" charset="0"/>
                <a:cs typeface="Calibri" panose="020F0502020204030204" pitchFamily="34" charset="0"/>
              </a:rPr>
              <a:t>    -An attempt to provide an historical fusion between realist and liberal perspectives. Realism’s engagement with American republicanism and institutions.</a:t>
            </a:r>
          </a:p>
          <a:p>
            <a:pPr marL="0" indent="0">
              <a:buNone/>
            </a:pPr>
            <a:r>
              <a:rPr kumimoji="1" lang="en-US" altLang="zh-CN" sz="2800" dirty="0">
                <a:latin typeface="Calibri" panose="020F0502020204030204" pitchFamily="34" charset="0"/>
                <a:ea typeface="Tahoma" panose="020B0604030504040204" pitchFamily="34" charset="0"/>
                <a:cs typeface="Calibri" panose="020F0502020204030204" pitchFamily="34" charset="0"/>
              </a:rPr>
              <a:t>    -Being aware of the historical variation of social and political orders and      </a:t>
            </a:r>
          </a:p>
          <a:p>
            <a:pPr marL="0" indent="0">
              <a:buNone/>
            </a:pPr>
            <a:r>
              <a:rPr kumimoji="1" lang="en-US" altLang="zh-CN" sz="2800" dirty="0">
                <a:latin typeface="Calibri" panose="020F0502020204030204" pitchFamily="34" charset="0"/>
                <a:ea typeface="Tahoma" panose="020B0604030504040204" pitchFamily="34" charset="0"/>
                <a:cs typeface="Calibri" panose="020F0502020204030204" pitchFamily="34" charset="0"/>
              </a:rPr>
              <a:t>      relations between them – over time.</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Was Europe in the early modern era more stable or better than Europe in the modern period? Didn’t the disastrous development of totalitarianism (Nazi) and two World Wars lead them to look at the medieval period with some nostalgia?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The historical progress in application of the principles of sovereignty and self-determination was made by lots of non-Western actors. The concept of sovereignty was divisible in the first place. (Race and Racism: Chapter 16)</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Is the rise of global right-wing politics a part of modern pathologies? </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ko-KR" sz="1800" dirty="0">
                <a:solidFill>
                  <a:schemeClr val="bg1"/>
                </a:solidFill>
                <a:cs typeface="Times New Roman" panose="02020603050405020304" pitchFamily="18" charset="0"/>
              </a:rPr>
              <a:t>11</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2741187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6518"/>
            <a:ext cx="8229600" cy="1143000"/>
          </a:xfrm>
        </p:spPr>
        <p:txBody>
          <a:bodyPr>
            <a:normAutofit/>
          </a:bodyPr>
          <a:lstStyle/>
          <a:p>
            <a:pPr algn="l"/>
            <a:r>
              <a:rPr kumimoji="1" lang="en-US" altLang="zh-CN" sz="4000" dirty="0">
                <a:latin typeface="Calibri" panose="020F0502020204030204" pitchFamily="34" charset="0"/>
                <a:cs typeface="Calibri" panose="020F0502020204030204" pitchFamily="34" charset="0"/>
              </a:rPr>
              <a:t>Race and Racism (</a:t>
            </a:r>
            <a:r>
              <a:rPr kumimoji="1" lang="en-US" altLang="zh-CN" sz="4000" dirty="0" err="1">
                <a:latin typeface="Calibri" panose="020F0502020204030204" pitchFamily="34" charset="0"/>
                <a:cs typeface="Calibri" panose="020F0502020204030204" pitchFamily="34" charset="0"/>
              </a:rPr>
              <a:t>Nivi</a:t>
            </a:r>
            <a:r>
              <a:rPr kumimoji="1" lang="en-US" altLang="zh-CN" sz="4000" dirty="0">
                <a:latin typeface="Calibri" panose="020F0502020204030204" pitchFamily="34" charset="0"/>
                <a:cs typeface="Calibri" panose="020F0502020204030204" pitchFamily="34" charset="0"/>
              </a:rPr>
              <a:t> </a:t>
            </a:r>
            <a:r>
              <a:rPr kumimoji="1" lang="en-US" altLang="zh-CN" sz="4000" dirty="0" err="1">
                <a:latin typeface="Calibri" panose="020F0502020204030204" pitchFamily="34" charset="0"/>
                <a:cs typeface="Calibri" panose="020F0502020204030204" pitchFamily="34" charset="0"/>
              </a:rPr>
              <a:t>Machandra</a:t>
            </a:r>
            <a:r>
              <a:rPr kumimoji="1" lang="en-US" altLang="zh-CN" sz="4000" dirty="0">
                <a:latin typeface="Calibri" panose="020F0502020204030204" pitchFamily="34" charset="0"/>
                <a:cs typeface="Calibri" panose="020F0502020204030204" pitchFamily="34" charset="0"/>
              </a:rPr>
              <a:t>)</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185731" y="1635498"/>
            <a:ext cx="8695033" cy="4707205"/>
          </a:xfrm>
        </p:spPr>
        <p:txBody>
          <a:bodyPr>
            <a:normAutofit lnSpcReduction="10000"/>
          </a:bodyPr>
          <a:lstStyle/>
          <a:p>
            <a:r>
              <a:rPr kumimoji="1" lang="en-US" altLang="zh-CN" sz="2800" dirty="0">
                <a:latin typeface="Calibri" panose="020F0502020204030204" pitchFamily="34" charset="0"/>
                <a:ea typeface="Tahoma" panose="020B0604030504040204" pitchFamily="34" charset="0"/>
                <a:cs typeface="Calibri" panose="020F0502020204030204" pitchFamily="34" charset="0"/>
              </a:rPr>
              <a:t>The global rise of the far right (Brazil, Germany, Israel, UK, India </a:t>
            </a:r>
            <a:r>
              <a:rPr kumimoji="1" lang="en-US" altLang="zh-CN" sz="2800" dirty="0" err="1">
                <a:latin typeface="Calibri" panose="020F0502020204030204" pitchFamily="34" charset="0"/>
                <a:ea typeface="Tahoma" panose="020B0604030504040204" pitchFamily="34" charset="0"/>
                <a:cs typeface="Calibri" panose="020F0502020204030204" pitchFamily="34" charset="0"/>
              </a:rPr>
              <a:t>etc</a:t>
            </a:r>
            <a:r>
              <a:rPr kumimoji="1" lang="en-US" altLang="zh-CN" sz="2800" dirty="0">
                <a:latin typeface="Calibri" panose="020F0502020204030204" pitchFamily="34" charset="0"/>
                <a:ea typeface="Tahoma" panose="020B0604030504040204" pitchFamily="34" charset="0"/>
                <a:cs typeface="Calibri" panose="020F0502020204030204" pitchFamily="34" charset="0"/>
              </a:rPr>
              <a:t>) is not novel.</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The history of anti-racist and anti-colonial resistance has prefigured some of the opposition to the enduring structures of racism, anti-Blackness, Islamophobia, and anti-Semitism.</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Looking at the genealogy of practices of racism and anti-racism and the history of the discipline of International Relations (IR) to explore what narratives (of racism) persist and what stories (of anti-racism) are marginalized.</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ko-KR" sz="1800" dirty="0">
                <a:solidFill>
                  <a:schemeClr val="bg1"/>
                </a:solidFill>
                <a:cs typeface="Times New Roman" panose="02020603050405020304" pitchFamily="18" charset="0"/>
              </a:rPr>
              <a:t>11</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1326050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44290"/>
            <a:ext cx="8229600" cy="1143000"/>
          </a:xfrm>
        </p:spPr>
        <p:txBody>
          <a:bodyPr>
            <a:normAutofit fontScale="90000"/>
          </a:bodyPr>
          <a:lstStyle/>
          <a:p>
            <a:pPr algn="l"/>
            <a:r>
              <a:rPr kumimoji="1" lang="en-US" altLang="zh-CN" sz="4000" dirty="0" err="1">
                <a:latin typeface="Calibri" panose="020F0502020204030204" pitchFamily="34" charset="0"/>
                <a:cs typeface="Calibri" panose="020F0502020204030204" pitchFamily="34" charset="0"/>
              </a:rPr>
              <a:t>Wilsonianism</a:t>
            </a:r>
            <a:r>
              <a:rPr kumimoji="1" lang="en-US" altLang="zh-CN" sz="4000" dirty="0">
                <a:latin typeface="Calibri" panose="020F0502020204030204" pitchFamily="34" charset="0"/>
                <a:cs typeface="Calibri" panose="020F0502020204030204" pitchFamily="34" charset="0"/>
              </a:rPr>
              <a:t> and the League of Nations:</a:t>
            </a:r>
            <a:br>
              <a:rPr kumimoji="1" lang="en-US" altLang="zh-CN" sz="4000" dirty="0">
                <a:latin typeface="Calibri" panose="020F0502020204030204" pitchFamily="34" charset="0"/>
                <a:cs typeface="Calibri" panose="020F0502020204030204" pitchFamily="34" charset="0"/>
              </a:rPr>
            </a:br>
            <a:r>
              <a:rPr kumimoji="1" lang="en-US" altLang="zh-CN" sz="4000" dirty="0">
                <a:latin typeface="Calibri" panose="020F0502020204030204" pitchFamily="34" charset="0"/>
                <a:cs typeface="Calibri" panose="020F0502020204030204" pitchFamily="34" charset="0"/>
              </a:rPr>
              <a:t>Trusteeship, Mandates, and the Birth of IR</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185731" y="1679742"/>
            <a:ext cx="8695033" cy="4707205"/>
          </a:xfrm>
        </p:spPr>
        <p:txBody>
          <a:bodyPr>
            <a:normAutofit/>
          </a:bodyPr>
          <a:lstStyle/>
          <a:p>
            <a:r>
              <a:rPr kumimoji="1" lang="en-US" altLang="zh-CN" sz="2800" dirty="0">
                <a:latin typeface="Calibri" panose="020F0502020204030204" pitchFamily="34" charset="0"/>
                <a:ea typeface="Tahoma" panose="020B0604030504040204" pitchFamily="34" charset="0"/>
                <a:cs typeface="Calibri" panose="020F0502020204030204" pitchFamily="34" charset="0"/>
              </a:rPr>
              <a:t>IR was not simply produced by the shock of the FWW, but rather by a scholars working on issues of war, peace, development, and security from a host of perspectives.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IR theory was richer, more diverse than a thin association with Wilsonian idealism or pluralism.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The founding myth glorified postwar </a:t>
            </a:r>
            <a:r>
              <a:rPr kumimoji="1" lang="en-US" altLang="zh-CN" sz="2800" dirty="0" err="1">
                <a:latin typeface="Calibri" panose="020F0502020204030204" pitchFamily="34" charset="0"/>
                <a:ea typeface="Tahoma" panose="020B0604030504040204" pitchFamily="34" charset="0"/>
                <a:cs typeface="Calibri" panose="020F0502020204030204" pitchFamily="34" charset="0"/>
              </a:rPr>
              <a:t>Wilsonianism</a:t>
            </a:r>
            <a:r>
              <a:rPr kumimoji="1" lang="en-US" altLang="zh-CN" sz="2800" dirty="0">
                <a:latin typeface="Calibri" panose="020F0502020204030204" pitchFamily="34" charset="0"/>
                <a:ea typeface="Tahoma" panose="020B0604030504040204" pitchFamily="34" charset="0"/>
                <a:cs typeface="Calibri" panose="020F0502020204030204" pitchFamily="34" charset="0"/>
              </a:rPr>
              <a:t> as an ideal framework that was a normative good.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But this hegemonic story of the birth of a discipline is itself a product of racialized practices. </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ko-KR" sz="1800" dirty="0">
                <a:solidFill>
                  <a:schemeClr val="bg1"/>
                </a:solidFill>
                <a:cs typeface="Times New Roman" panose="02020603050405020304" pitchFamily="18" charset="0"/>
              </a:rPr>
              <a:t>12</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1742123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44290"/>
            <a:ext cx="8229600" cy="1143000"/>
          </a:xfrm>
        </p:spPr>
        <p:txBody>
          <a:bodyPr>
            <a:normAutofit fontScale="90000"/>
          </a:bodyPr>
          <a:lstStyle/>
          <a:p>
            <a:pPr algn="l"/>
            <a:r>
              <a:rPr kumimoji="1" lang="en-US" altLang="zh-CN" sz="4000" dirty="0" err="1">
                <a:latin typeface="Calibri" panose="020F0502020204030204" pitchFamily="34" charset="0"/>
                <a:cs typeface="Calibri" panose="020F0502020204030204" pitchFamily="34" charset="0"/>
              </a:rPr>
              <a:t>Wilsonianism</a:t>
            </a:r>
            <a:r>
              <a:rPr kumimoji="1" lang="en-US" altLang="zh-CN" sz="4000" dirty="0">
                <a:latin typeface="Calibri" panose="020F0502020204030204" pitchFamily="34" charset="0"/>
                <a:cs typeface="Calibri" panose="020F0502020204030204" pitchFamily="34" charset="0"/>
              </a:rPr>
              <a:t> and the League of Nations:</a:t>
            </a:r>
            <a:br>
              <a:rPr kumimoji="1" lang="en-US" altLang="zh-CN" sz="4000" dirty="0">
                <a:latin typeface="Calibri" panose="020F0502020204030204" pitchFamily="34" charset="0"/>
                <a:cs typeface="Calibri" panose="020F0502020204030204" pitchFamily="34" charset="0"/>
              </a:rPr>
            </a:br>
            <a:r>
              <a:rPr kumimoji="1" lang="en-US" altLang="zh-CN" sz="4000" dirty="0">
                <a:latin typeface="Calibri" panose="020F0502020204030204" pitchFamily="34" charset="0"/>
                <a:cs typeface="Calibri" panose="020F0502020204030204" pitchFamily="34" charset="0"/>
              </a:rPr>
              <a:t>Trusteeship, Mandates, and the Birth of IR</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185731" y="1547010"/>
            <a:ext cx="8695033" cy="4707205"/>
          </a:xfrm>
        </p:spPr>
        <p:txBody>
          <a:bodyPr>
            <a:normAutofit/>
          </a:bodyPr>
          <a:lstStyle/>
          <a:p>
            <a:r>
              <a:rPr kumimoji="1" lang="en-US" altLang="zh-CN" sz="2800" dirty="0">
                <a:latin typeface="Calibri" panose="020F0502020204030204" pitchFamily="34" charset="0"/>
                <a:ea typeface="Tahoma" panose="020B0604030504040204" pitchFamily="34" charset="0"/>
                <a:cs typeface="Calibri" panose="020F0502020204030204" pitchFamily="34" charset="0"/>
              </a:rPr>
              <a:t>Wilson’s self-determination was proposed in the context of European, especially British and French, empire.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He advocated a tutelage system through which so called advanced nations would help less civilized nations prepare for eventual self-governance. </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Through a mandate system and later the idea of trusteeship</a:t>
            </a:r>
          </a:p>
          <a:p>
            <a:r>
              <a:rPr kumimoji="1" lang="en-US" altLang="zh-CN" sz="2800" dirty="0">
                <a:latin typeface="Calibri" panose="020F0502020204030204" pitchFamily="34" charset="0"/>
                <a:ea typeface="Tahoma" panose="020B0604030504040204" pitchFamily="34" charset="0"/>
                <a:cs typeface="Calibri" panose="020F0502020204030204" pitchFamily="34" charset="0"/>
              </a:rPr>
              <a:t>Protests and demonstrations took place from North Africa to China against a qualified and gradated vision of sovereignty.</a:t>
            </a: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p:txBody>
      </p:sp>
      <p:cxnSp>
        <p:nvCxnSpPr>
          <p:cNvPr id="4" name="直线连接符 3"/>
          <p:cNvCxnSpPr/>
          <p:nvPr/>
        </p:nvCxnSpPr>
        <p:spPr>
          <a:xfrm>
            <a:off x="36813"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ko-KR" sz="1800" dirty="0">
                <a:solidFill>
                  <a:schemeClr val="bg1"/>
                </a:solidFill>
                <a:cs typeface="Times New Roman" panose="02020603050405020304" pitchFamily="18" charset="0"/>
              </a:rPr>
              <a:t>12</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61269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44290"/>
            <a:ext cx="8229600" cy="1143000"/>
          </a:xfrm>
        </p:spPr>
        <p:txBody>
          <a:bodyPr>
            <a:normAutofit/>
          </a:bodyPr>
          <a:lstStyle/>
          <a:p>
            <a:pPr algn="l"/>
            <a:r>
              <a:rPr kumimoji="1" lang="nl-NL" altLang="zh-CN" sz="4000" dirty="0">
                <a:latin typeface="Calibri" panose="020F0502020204030204" pitchFamily="34" charset="0"/>
                <a:cs typeface="Calibri" panose="020F0502020204030204" pitchFamily="34" charset="0"/>
              </a:rPr>
              <a:t>A few </a:t>
            </a:r>
            <a:r>
              <a:rPr kumimoji="1" lang="nl-NL" altLang="zh-CN" sz="4000" dirty="0" err="1">
                <a:latin typeface="Calibri" panose="020F0502020204030204" pitchFamily="34" charset="0"/>
                <a:cs typeface="Calibri" panose="020F0502020204030204" pitchFamily="34" charset="0"/>
              </a:rPr>
              <a:t>thoughts</a:t>
            </a:r>
            <a:endParaRPr kumimoji="1" lang="zh-CN" altLang="en-US" sz="4000" dirty="0">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156235" y="1547010"/>
            <a:ext cx="9107187" cy="4707205"/>
          </a:xfrm>
        </p:spPr>
        <p:txBody>
          <a:bodyPr>
            <a:normAutofit/>
          </a:bodyPr>
          <a:lstStyle/>
          <a:p>
            <a:r>
              <a:rPr kumimoji="1" lang="nl-NL" altLang="ko-KR" sz="2800" dirty="0" err="1">
                <a:latin typeface="Calibri" panose="020F0502020204030204" pitchFamily="34" charset="0"/>
                <a:ea typeface="Tahoma" panose="020B0604030504040204" pitchFamily="34" charset="0"/>
                <a:cs typeface="Calibri" panose="020F0502020204030204" pitchFamily="34" charset="0"/>
              </a:rPr>
              <a:t>Given</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the</a:t>
            </a:r>
            <a:r>
              <a:rPr kumimoji="1" lang="nl-NL" altLang="ko-KR" sz="2800" dirty="0">
                <a:latin typeface="Calibri" panose="020F0502020204030204" pitchFamily="34" charset="0"/>
                <a:ea typeface="Tahoma" panose="020B0604030504040204" pitchFamily="34" charset="0"/>
                <a:cs typeface="Calibri" panose="020F0502020204030204" pitchFamily="34" charset="0"/>
              </a:rPr>
              <a:t> recent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critical</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works</a:t>
            </a:r>
            <a:r>
              <a:rPr kumimoji="1" lang="nl-NL" altLang="ko-KR" sz="2800" dirty="0">
                <a:latin typeface="Calibri" panose="020F0502020204030204" pitchFamily="34" charset="0"/>
                <a:ea typeface="Tahoma" panose="020B0604030504040204" pitchFamily="34" charset="0"/>
                <a:cs typeface="Calibri" panose="020F0502020204030204" pitchFamily="34" charset="0"/>
              </a:rPr>
              <a:t> on Wilson’s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self-determination</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and</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ideas</a:t>
            </a:r>
            <a:r>
              <a:rPr kumimoji="1" lang="nl-NL" altLang="ko-KR" sz="2800" dirty="0">
                <a:latin typeface="Calibri" panose="020F0502020204030204" pitchFamily="34" charset="0"/>
                <a:ea typeface="Tahoma" panose="020B0604030504040204" pitchFamily="34" charset="0"/>
                <a:cs typeface="Calibri" panose="020F0502020204030204" pitchFamily="34" charset="0"/>
              </a:rPr>
              <a:t> of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mandate</a:t>
            </a:r>
            <a:r>
              <a:rPr kumimoji="1" lang="nl-NL" altLang="ko-KR" sz="2800" dirty="0">
                <a:latin typeface="Calibri" panose="020F0502020204030204" pitchFamily="34" charset="0"/>
                <a:ea typeface="Tahoma" panose="020B0604030504040204" pitchFamily="34" charset="0"/>
                <a:cs typeface="Calibri" panose="020F0502020204030204" pitchFamily="34" charset="0"/>
              </a:rPr>
              <a:t>/</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trusteeship</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what</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could</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be</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newly</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presented</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about</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the</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local</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appropriation</a:t>
            </a:r>
            <a:r>
              <a:rPr kumimoji="1" lang="nl-NL" altLang="ko-KR" sz="2800" dirty="0">
                <a:latin typeface="Calibri" panose="020F0502020204030204" pitchFamily="34" charset="0"/>
                <a:ea typeface="Tahoma" panose="020B0604030504040204" pitchFamily="34" charset="0"/>
                <a:cs typeface="Calibri" panose="020F0502020204030204" pitchFamily="34" charset="0"/>
              </a:rPr>
              <a:t> of these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concepts</a:t>
            </a:r>
            <a:r>
              <a:rPr kumimoji="1" lang="nl-NL" altLang="ko-KR" sz="2800" dirty="0">
                <a:latin typeface="Calibri" panose="020F0502020204030204" pitchFamily="34" charset="0"/>
                <a:ea typeface="Tahoma" panose="020B0604030504040204" pitchFamily="34" charset="0"/>
                <a:cs typeface="Calibri" panose="020F0502020204030204" pitchFamily="34" charset="0"/>
              </a:rPr>
              <a:t> in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the</a:t>
            </a:r>
            <a:r>
              <a:rPr kumimoji="1" lang="nl-NL" altLang="ko-KR" sz="2800" dirty="0">
                <a:latin typeface="Calibri" panose="020F0502020204030204" pitchFamily="34" charset="0"/>
                <a:ea typeface="Tahoma" panose="020B0604030504040204" pitchFamily="34" charset="0"/>
                <a:cs typeface="Calibri" panose="020F0502020204030204" pitchFamily="34" charset="0"/>
              </a:rPr>
              <a:t> cases of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the</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March</a:t>
            </a:r>
            <a:r>
              <a:rPr kumimoji="1" lang="nl-NL" altLang="ko-KR" sz="2800" dirty="0">
                <a:latin typeface="Calibri" panose="020F0502020204030204" pitchFamily="34" charset="0"/>
                <a:ea typeface="Tahoma" panose="020B0604030504040204" pitchFamily="34" charset="0"/>
                <a:cs typeface="Calibri" panose="020F0502020204030204" pitchFamily="34" charset="0"/>
              </a:rPr>
              <a:t> 1st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movement</a:t>
            </a:r>
            <a:r>
              <a:rPr kumimoji="1" lang="nl-NL" altLang="ko-KR" sz="2800" dirty="0">
                <a:latin typeface="Calibri" panose="020F0502020204030204" pitchFamily="34" charset="0"/>
                <a:ea typeface="Tahoma" panose="020B0604030504040204" pitchFamily="34" charset="0"/>
                <a:cs typeface="Calibri" panose="020F0502020204030204" pitchFamily="34" charset="0"/>
              </a:rPr>
              <a:t> in 1919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and</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the</a:t>
            </a:r>
            <a:r>
              <a:rPr kumimoji="1" lang="nl-NL" altLang="ko-KR" sz="2800" dirty="0">
                <a:latin typeface="Calibri" panose="020F0502020204030204" pitchFamily="34" charset="0"/>
                <a:ea typeface="Tahoma" panose="020B0604030504040204" pitchFamily="34" charset="0"/>
                <a:cs typeface="Calibri" panose="020F0502020204030204" pitchFamily="34" charset="0"/>
              </a:rPr>
              <a:t> anti-</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Trusteeship</a:t>
            </a:r>
            <a:r>
              <a:rPr kumimoji="1" lang="nl-NL" altLang="ko-KR" sz="2800" dirty="0">
                <a:latin typeface="Calibri" panose="020F0502020204030204" pitchFamily="34" charset="0"/>
                <a:ea typeface="Tahoma" panose="020B0604030504040204" pitchFamily="34" charset="0"/>
                <a:cs typeface="Calibri" panose="020F0502020204030204" pitchFamily="34" charset="0"/>
              </a:rPr>
              <a:t> protest </a:t>
            </a:r>
            <a:r>
              <a:rPr kumimoji="1" lang="nl-NL" altLang="ko-KR" sz="2800" dirty="0" err="1">
                <a:latin typeface="Calibri" panose="020F0502020204030204" pitchFamily="34" charset="0"/>
                <a:ea typeface="Tahoma" panose="020B0604030504040204" pitchFamily="34" charset="0"/>
                <a:cs typeface="Calibri" panose="020F0502020204030204" pitchFamily="34" charset="0"/>
              </a:rPr>
              <a:t>after</a:t>
            </a:r>
            <a:r>
              <a:rPr kumimoji="1" lang="nl-NL" altLang="ko-KR" sz="2800" dirty="0">
                <a:latin typeface="Calibri" panose="020F0502020204030204" pitchFamily="34" charset="0"/>
                <a:ea typeface="Tahoma" panose="020B0604030504040204" pitchFamily="34" charset="0"/>
                <a:cs typeface="Calibri" panose="020F0502020204030204" pitchFamily="34" charset="0"/>
              </a:rPr>
              <a:t> 1945? </a:t>
            </a:r>
          </a:p>
          <a:p>
            <a:r>
              <a:rPr kumimoji="1" lang="en-US" altLang="ko-KR" sz="2800" dirty="0">
                <a:latin typeface="Calibri" panose="020F0502020204030204" pitchFamily="34" charset="0"/>
                <a:ea typeface="Tahoma" panose="020B0604030504040204" pitchFamily="34" charset="0"/>
                <a:cs typeface="Calibri" panose="020F0502020204030204" pitchFamily="34" charset="0"/>
              </a:rPr>
              <a:t>Are there Asian contributions to the progress in the advancement of the principle of self-determination?</a:t>
            </a:r>
          </a:p>
          <a:p>
            <a:r>
              <a:rPr kumimoji="1" lang="en-US" altLang="ko-KR" sz="2800" dirty="0">
                <a:latin typeface="Calibri" panose="020F0502020204030204" pitchFamily="34" charset="0"/>
                <a:ea typeface="Tahoma" panose="020B0604030504040204" pitchFamily="34" charset="0"/>
                <a:cs typeface="Calibri" panose="020F0502020204030204" pitchFamily="34" charset="0"/>
              </a:rPr>
              <a:t>Any theoretical avenue for connecting such burgeoning literature to the concept of incomplete sovereignty?</a:t>
            </a:r>
          </a:p>
          <a:p>
            <a:endParaRPr kumimoji="1" lang="en-US" altLang="ko-KR"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ko-KR" sz="2800" dirty="0">
              <a:latin typeface="Calibri" panose="020F0502020204030204" pitchFamily="34" charset="0"/>
              <a:ea typeface="Tahoma" panose="020B0604030504040204" pitchFamily="34" charset="0"/>
              <a:cs typeface="Calibri" panose="020F0502020204030204" pitchFamily="34" charset="0"/>
            </a:endParaRPr>
          </a:p>
          <a:p>
            <a:endParaRPr kumimoji="1" lang="nl-NL"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pPr marL="0" indent="0">
              <a:buNone/>
            </a:pPr>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a:p>
            <a:endParaRPr kumimoji="1" lang="en-US" altLang="zh-CN" sz="2800" dirty="0">
              <a:latin typeface="Calibri" panose="020F0502020204030204" pitchFamily="34" charset="0"/>
              <a:ea typeface="Tahoma" panose="020B0604030504040204" pitchFamily="34" charset="0"/>
              <a:cs typeface="Calibri" panose="020F0502020204030204" pitchFamily="34" charset="0"/>
            </a:endParaRPr>
          </a:p>
        </p:txBody>
      </p:sp>
      <p:cxnSp>
        <p:nvCxnSpPr>
          <p:cNvPr id="4" name="直线连接符 3"/>
          <p:cNvCxnSpPr/>
          <p:nvPr/>
        </p:nvCxnSpPr>
        <p:spPr>
          <a:xfrm>
            <a:off x="7317" y="1417638"/>
            <a:ext cx="9144000" cy="0"/>
          </a:xfrm>
          <a:prstGeom prst="line">
            <a:avLst/>
          </a:prstGeom>
          <a:ln>
            <a:solidFill>
              <a:srgbClr val="820024"/>
            </a:solidFill>
          </a:ln>
        </p:spPr>
        <p:style>
          <a:lnRef idx="2">
            <a:schemeClr val="accent1"/>
          </a:lnRef>
          <a:fillRef idx="0">
            <a:schemeClr val="accent1"/>
          </a:fillRef>
          <a:effectRef idx="1">
            <a:schemeClr val="accent1"/>
          </a:effectRef>
          <a:fontRef idx="minor">
            <a:schemeClr val="tx1"/>
          </a:fontRef>
        </p:style>
      </p:cxnSp>
      <p:sp>
        <p:nvSpPr>
          <p:cNvPr id="6" name="矩形 5"/>
          <p:cNvSpPr/>
          <p:nvPr/>
        </p:nvSpPr>
        <p:spPr>
          <a:xfrm>
            <a:off x="0" y="6478406"/>
            <a:ext cx="9144000" cy="379594"/>
          </a:xfrm>
          <a:prstGeom prst="rect">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53745" y="6478406"/>
            <a:ext cx="9107187" cy="369332"/>
          </a:xfrm>
          <a:prstGeom prst="rect">
            <a:avLst/>
          </a:prstGeom>
          <a:noFill/>
        </p:spPr>
        <p:txBody>
          <a:bodyPr wrap="square" rtlCol="0">
            <a:spAutoFit/>
          </a:bodyPr>
          <a:lstStyle/>
          <a:p>
            <a:r>
              <a:rPr kumimoji="1" lang="en-US" altLang="zh-CN" dirty="0">
                <a:solidFill>
                  <a:schemeClr val="bg1"/>
                </a:solidFill>
              </a:rPr>
              <a:t>Boston College Department of Political Science</a:t>
            </a:r>
            <a:endParaRPr kumimoji="1" lang="zh-CN" altLang="en-US" dirty="0">
              <a:solidFill>
                <a:schemeClr val="bg1"/>
              </a:solidFill>
            </a:endParaRPr>
          </a:p>
        </p:txBody>
      </p:sp>
      <p:sp>
        <p:nvSpPr>
          <p:cNvPr id="16" name="Slide Number Placeholder 15">
            <a:extLst>
              <a:ext uri="{FF2B5EF4-FFF2-40B4-BE49-F238E27FC236}">
                <a16:creationId xmlns:a16="http://schemas.microsoft.com/office/drawing/2014/main" id="{49564CD0-8690-4829-89B8-4970695777FB}"/>
              </a:ext>
            </a:extLst>
          </p:cNvPr>
          <p:cNvSpPr>
            <a:spLocks noGrp="1"/>
          </p:cNvSpPr>
          <p:nvPr>
            <p:ph type="sldNum" sz="quarter" idx="12"/>
          </p:nvPr>
        </p:nvSpPr>
        <p:spPr>
          <a:xfrm>
            <a:off x="7010400" y="6480509"/>
            <a:ext cx="2133600" cy="365125"/>
          </a:xfrm>
        </p:spPr>
        <p:txBody>
          <a:bodyPr/>
          <a:lstStyle/>
          <a:p>
            <a:r>
              <a:rPr kumimoji="1" lang="en-US" altLang="ko-KR" sz="1800" dirty="0">
                <a:solidFill>
                  <a:schemeClr val="bg1"/>
                </a:solidFill>
                <a:cs typeface="Times New Roman" panose="02020603050405020304" pitchFamily="18" charset="0"/>
              </a:rPr>
              <a:t>12</a:t>
            </a:r>
            <a:endParaRPr kumimoji="1" lang="zh-CN" altLang="en-US" sz="1400"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3343959078"/>
      </p:ext>
    </p:extLst>
  </p:cSld>
  <p:clrMapOvr>
    <a:masterClrMapping/>
  </p:clrMapOvr>
</p:sld>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9372</TotalTime>
  <Words>2012</Words>
  <Application>Microsoft Macintosh PowerPoint</Application>
  <PresentationFormat>On-screen Show (4:3)</PresentationFormat>
  <Paragraphs>181</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主题</vt:lpstr>
      <vt:lpstr>Historical Realism (Michael C. Williams) + Race and Racism (Nivi Manchanda)</vt:lpstr>
      <vt:lpstr>Historical Realism? </vt:lpstr>
      <vt:lpstr>Historical Realism?: Conclusion </vt:lpstr>
      <vt:lpstr>(2) Historicist Realism: Power and Contingency </vt:lpstr>
      <vt:lpstr>(2) Historicist Realism: Power and Contingency </vt:lpstr>
      <vt:lpstr>(2) Historicist Realism: Power and Contingency </vt:lpstr>
      <vt:lpstr>(3) Modernity as an epoch and its dangers</vt:lpstr>
      <vt:lpstr>(4) Modernity as an epoch and its dangers</vt:lpstr>
      <vt:lpstr>(4) Modernity as an epoch and its dangers</vt:lpstr>
      <vt:lpstr>(4) Modernity as an epoch and its dangers</vt:lpstr>
      <vt:lpstr>(4) Modernity as an epoch and its dangers</vt:lpstr>
      <vt:lpstr>Conclusion + A few thoughts</vt:lpstr>
      <vt:lpstr>Race and Racism (Nivi Machandra)</vt:lpstr>
      <vt:lpstr>Wilsonianism and the League of Nations: Trusteeship, Mandates, and the Birth of IR</vt:lpstr>
      <vt:lpstr>Wilsonianism and the League of Nations: Trusteeship, Mandates, and the Birth of IR</vt:lpstr>
      <vt:lpstr>A few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HAOWEI WANG</dc:creator>
  <cp:lastModifiedBy>Inhwan Oh</cp:lastModifiedBy>
  <cp:revision>755</cp:revision>
  <dcterms:created xsi:type="dcterms:W3CDTF">2017-11-08T19:23:37Z</dcterms:created>
  <dcterms:modified xsi:type="dcterms:W3CDTF">2023-12-19T02:31:06Z</dcterms:modified>
</cp:coreProperties>
</file>