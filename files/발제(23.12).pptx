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9" r:id="rId2"/>
    <p:sldId id="606" r:id="rId3"/>
    <p:sldId id="751" r:id="rId4"/>
    <p:sldId id="752" r:id="rId5"/>
    <p:sldId id="753" r:id="rId6"/>
    <p:sldId id="754" r:id="rId7"/>
    <p:sldId id="755" r:id="rId8"/>
    <p:sldId id="756" r:id="rId9"/>
    <p:sldId id="757" r:id="rId10"/>
    <p:sldId id="758" r:id="rId11"/>
    <p:sldId id="759" r:id="rId12"/>
    <p:sldId id="760" r:id="rId13"/>
    <p:sldId id="761" r:id="rId14"/>
    <p:sldId id="762" r:id="rId15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42" autoAdjust="0"/>
    <p:restoredTop sz="94660"/>
  </p:normalViewPr>
  <p:slideViewPr>
    <p:cSldViewPr snapToGrid="0">
      <p:cViewPr varScale="1">
        <p:scale>
          <a:sx n="85" d="100"/>
          <a:sy n="85" d="100"/>
        </p:scale>
        <p:origin x="60" y="4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199A57D-7E81-4E2A-92AF-EAA1B44409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AF019E0-5D16-4577-B1A2-17D17BDF4C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781B00F-8952-4712-8375-0EAD99559F31}" type="datetime1">
              <a:rPr lang="ko-KR" altLang="en-US" smtClean="0"/>
              <a:t>2023-12-15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ED17A3-5EC5-45FE-97F2-ACAA8A5943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8"/>
            <a:ext cx="3078427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r>
              <a:rPr lang="ko-KR" altLang="en-US"/>
              <a:t>한국외교사</a:t>
            </a:r>
            <a:r>
              <a:rPr lang="en-US" altLang="ko-KR"/>
              <a:t>(23-1)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59E52E-CB45-445F-AC41-8D1DA4F88F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8"/>
            <a:ext cx="3078427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AE2B3241-4FA6-4C29-9ED9-F3D026B60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540849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C135B7E4-6D76-47AB-8786-F8B7D1DE7B46}" type="datetime1">
              <a:rPr lang="ko-KR" altLang="en-US" smtClean="0"/>
              <a:t>2023-12-15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7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r>
              <a:rPr lang="ko-KR" altLang="en-US"/>
              <a:t>한국외교사</a:t>
            </a:r>
            <a:r>
              <a:rPr lang="en-US" altLang="ko-KR"/>
              <a:t>(23-1)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7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BE1969B2-B572-405A-A47F-8794EC5B1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415282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200177"/>
            <a:ext cx="12192000" cy="775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5674156-3125-48CE-B7AD-16F5FF6CA05A}"/>
              </a:ext>
            </a:extLst>
          </p:cNvPr>
          <p:cNvSpPr/>
          <p:nvPr userDrawn="1"/>
        </p:nvSpPr>
        <p:spPr>
          <a:xfrm>
            <a:off x="0" y="6597352"/>
            <a:ext cx="12192000" cy="26064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BEA53C6E-B822-48C1-AE43-123E9E431F6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0" y="1005381"/>
            <a:ext cx="12192000" cy="419379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Subtitle in this line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9917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FCAD-D5AD-4E6A-9FC0-078D8C5BF226}" type="datetime1">
              <a:rPr lang="en-US" altLang="ko-KR" smtClean="0"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한국외교사 강의자료 </a:t>
            </a:r>
            <a:r>
              <a:rPr lang="en-US" altLang="ko-KR"/>
              <a:t>(2022.9.16)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8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3068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7039" y="2921168"/>
            <a:ext cx="3358920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6000" kern="0" spc="133" dirty="0">
                <a:solidFill>
                  <a:srgbClr val="FFFFFF"/>
                </a:solidFill>
                <a:latin typeface="Bebas Neue" pitchFamily="34" charset="0"/>
                <a:cs typeface="Bebas Neue" pitchFamily="34" charset="0"/>
              </a:rPr>
              <a:t>Ch.06</a:t>
            </a:r>
            <a:endParaRPr lang="en-US" sz="500" dirty="0"/>
          </a:p>
        </p:txBody>
      </p:sp>
      <p:sp>
        <p:nvSpPr>
          <p:cNvPr id="3" name="Object 3"/>
          <p:cNvSpPr txBox="1"/>
          <p:nvPr/>
        </p:nvSpPr>
        <p:spPr>
          <a:xfrm>
            <a:off x="4595959" y="2531318"/>
            <a:ext cx="7322772" cy="15614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Global History and IR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George Lawson &amp; Jeppe </a:t>
            </a:r>
            <a:r>
              <a:rPr lang="en-US" altLang="ko-KR" sz="2800" dirty="0" err="1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Mulich</a:t>
            </a:r>
            <a:endParaRPr lang="en-US" altLang="ko-KR" sz="28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1001" name="그룹 1001"/>
          <p:cNvGrpSpPr/>
          <p:nvPr/>
        </p:nvGrpSpPr>
        <p:grpSpPr>
          <a:xfrm>
            <a:off x="3302930" y="3404580"/>
            <a:ext cx="1902239" cy="304947"/>
            <a:chOff x="4954394" y="5106869"/>
            <a:chExt cx="2853359" cy="457421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6200000">
              <a:off x="4954394" y="5106869"/>
              <a:ext cx="2853359" cy="4574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9982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B06BB-10CA-4CF8-87BF-DEE832DC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31" y="173477"/>
            <a:ext cx="11474245" cy="77577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Global Histories</a:t>
            </a:r>
            <a:endParaRPr lang="ko-KR" altLang="en-US" sz="4400" b="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997CCE2-8023-40E3-963F-590FCF5D6090}"/>
              </a:ext>
            </a:extLst>
          </p:cNvPr>
          <p:cNvSpPr txBox="1">
            <a:spLocks/>
          </p:cNvSpPr>
          <p:nvPr/>
        </p:nvSpPr>
        <p:spPr>
          <a:xfrm>
            <a:off x="467032" y="1311307"/>
            <a:ext cx="11124604" cy="5373216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indent="-176213" algn="just" fontAlgn="base" latinLnBrk="1">
              <a:lnSpc>
                <a:spcPct val="180000"/>
              </a:lnSpc>
              <a:spcBef>
                <a:spcPts val="1800"/>
              </a:spcBef>
            </a:pP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‘</a:t>
            </a:r>
            <a:r>
              <a:rPr lang="en-US" altLang="ko-KR" sz="1800" kern="0" spc="0" dirty="0" err="1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많은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kern="0" spc="0" dirty="0" err="1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사람이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kern="0" spc="0" dirty="0" err="1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아직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kern="0" spc="0" dirty="0" err="1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깨닫지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kern="0" spc="0" dirty="0" err="1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못했지만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kern="0" spc="0" dirty="0" err="1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이제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kern="0" spc="0" dirty="0" err="1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모든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kern="0" spc="0" dirty="0" err="1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역사가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는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kern="0" spc="0" dirty="0" err="1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세계역사가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(World Historian)’ - Christopher </a:t>
            </a:r>
            <a:r>
              <a:rPr lang="en-US" altLang="ko-KR" sz="1800" kern="0" spc="0" dirty="0" err="1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Bayly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(2004)</a:t>
            </a:r>
          </a:p>
          <a:p>
            <a:pPr marL="176213" indent="-176213" algn="just" fontAlgn="base" latinLnBrk="1">
              <a:lnSpc>
                <a:spcPct val="180000"/>
              </a:lnSpc>
              <a:spcBef>
                <a:spcPts val="1800"/>
              </a:spcBef>
            </a:pP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글로벌 히스토리는 하나의 역사적 또는 방법론적 접근 방식을 의미하는 것이 아니라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다양한 접근 방식과 관점들을 포괄하는 용어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marL="176213" indent="-176213" algn="just" fontAlgn="base" latinLnBrk="1">
              <a:lnSpc>
                <a:spcPct val="180000"/>
              </a:lnSpc>
              <a:spcBef>
                <a:spcPts val="1800"/>
              </a:spcBef>
            </a:pP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가장 중요한 통합 요소는 국경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(national container) 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통해 역사를 사고하는 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19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세기 접근 방식에 대한 공통된 비판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분석의 기본 단위인 국민국가를 </a:t>
            </a:r>
            <a:r>
              <a:rPr lang="ko-KR" altLang="en-US" sz="1800" kern="0" spc="0" dirty="0" err="1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탈중심화함으로써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근대 역사학의 뿌리 깊은 일부였던 유럽 중심주의를 극복하고자 함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marL="176213" indent="-176213" algn="just" fontAlgn="base" latinLnBrk="1">
              <a:lnSpc>
                <a:spcPct val="180000"/>
              </a:lnSpc>
              <a:spcBef>
                <a:spcPts val="1800"/>
              </a:spcBef>
            </a:pPr>
            <a:endParaRPr lang="ko-KR" altLang="en-US" sz="1800" kern="0" spc="0" dirty="0">
              <a:effectLst/>
              <a:latin typeface="바탕" panose="02030600000101010101" pitchFamily="18" charset="-127"/>
            </a:endParaRPr>
          </a:p>
          <a:p>
            <a:pPr marL="176213" indent="-176213" algn="just" fontAlgn="base" latinLnBrk="1">
              <a:lnSpc>
                <a:spcPct val="180000"/>
              </a:lnSpc>
              <a:spcBef>
                <a:spcPts val="1800"/>
              </a:spcBef>
            </a:pPr>
            <a:endParaRPr lang="ko-KR" altLang="en-US" sz="1800" kern="0" spc="0" dirty="0">
              <a:effectLst/>
              <a:latin typeface="바탕" panose="02030600000101010101" pitchFamily="18" charset="-127"/>
            </a:endParaRPr>
          </a:p>
          <a:p>
            <a:pPr marL="176213" indent="-176213" algn="just" fontAlgn="base" latinLnBrk="1">
              <a:lnSpc>
                <a:spcPct val="180000"/>
              </a:lnSpc>
              <a:spcBef>
                <a:spcPts val="1800"/>
              </a:spcBef>
            </a:pPr>
            <a:endParaRPr lang="en-US" altLang="ko-KR" sz="1800" kern="0" spc="0" dirty="0">
              <a:effectLst/>
              <a:latin typeface="바탕" panose="02030600000101010101" pitchFamily="18" charset="-127"/>
            </a:endParaRPr>
          </a:p>
          <a:p>
            <a:pPr marL="176213" marR="0" indent="-176213" algn="just" fontAlgn="base" latinLnBrk="1">
              <a:lnSpc>
                <a:spcPct val="180000"/>
              </a:lnSpc>
              <a:spcBef>
                <a:spcPts val="1800"/>
              </a:spcBef>
              <a:spcAft>
                <a:spcPts val="0"/>
              </a:spcAft>
            </a:pPr>
            <a:endParaRPr lang="en-US" altLang="ko-KR" sz="1800" kern="0" spc="0" dirty="0">
              <a:effectLst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2157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B06BB-10CA-4CF8-87BF-DEE832DC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31" y="173477"/>
            <a:ext cx="11474245" cy="77577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Global Histories – Clusters of issues</a:t>
            </a:r>
            <a:endParaRPr lang="ko-KR" altLang="en-US" sz="4400" b="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997CCE2-8023-40E3-963F-590FCF5D6090}"/>
              </a:ext>
            </a:extLst>
          </p:cNvPr>
          <p:cNvSpPr txBox="1">
            <a:spLocks/>
          </p:cNvSpPr>
          <p:nvPr/>
        </p:nvSpPr>
        <p:spPr>
          <a:xfrm>
            <a:off x="467032" y="1311307"/>
            <a:ext cx="11124604" cy="5126438"/>
          </a:xfr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25400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세계화와 근대성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(globalization and modernity)</a:t>
            </a:r>
          </a:p>
          <a:p>
            <a:pPr marL="0" marR="0" indent="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 -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세계화의 기원과 과정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근대성의 기원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다중 근대성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</a:p>
          <a:p>
            <a:pPr marL="0" marR="0" indent="25400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공간과 규모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(space and scale)</a:t>
            </a:r>
          </a:p>
          <a:p>
            <a:pPr marL="268288" marR="0" indent="-268288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 -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세계 </a:t>
            </a:r>
            <a:r>
              <a:rPr lang="ko-KR" altLang="en-US" sz="1800" kern="0" dirty="0" err="1">
                <a:latin typeface="바탕" panose="02030600000101010101" pitchFamily="18" charset="-127"/>
                <a:ea typeface="바탕" panose="02030600000101010101" pitchFamily="18" charset="-127"/>
              </a:rPr>
              <a:t>자체로서의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 세계사가 아닌 세계 속의 </a:t>
            </a:r>
            <a:r>
              <a:rPr lang="ko-KR" altLang="en-US" sz="1800" kern="0" dirty="0" err="1">
                <a:latin typeface="바탕" panose="02030600000101010101" pitchFamily="18" charset="-127"/>
                <a:ea typeface="바탕" panose="02030600000101010101" pitchFamily="18" charset="-127"/>
              </a:rPr>
              <a:t>지역사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대양 횡단 네트워크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지역 간 이주 흐름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세계 제국의 부상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세계 </a:t>
            </a:r>
            <a:r>
              <a:rPr lang="ko-KR" altLang="en-US" sz="1800" kern="0" dirty="0" err="1">
                <a:latin typeface="바탕" panose="02030600000101010101" pitchFamily="18" charset="-127"/>
                <a:ea typeface="바탕" panose="02030600000101010101" pitchFamily="18" charset="-127"/>
              </a:rPr>
              <a:t>도시사</a:t>
            </a:r>
            <a:endParaRPr lang="en-US" altLang="ko-KR" sz="1800" kern="0" spc="0" dirty="0">
              <a:effectLst/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0" marR="0" indent="25400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흐름과 연결성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(flows and connectivity)</a:t>
            </a:r>
          </a:p>
          <a:p>
            <a:pPr marL="0" marR="0" indent="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 -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사람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상품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 정보의 흐름과 순환</a:t>
            </a:r>
            <a:endParaRPr lang="en-US" altLang="ko-KR" sz="1800" kern="0" spc="0" dirty="0">
              <a:effectLst/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0" marR="0" indent="25400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아이디어의 확산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(spread of ideas)</a:t>
            </a:r>
          </a:p>
          <a:p>
            <a:pPr marL="0" marR="0" indent="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 -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지구 법학사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(global legal history),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지구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1800" kern="0" dirty="0" err="1">
                <a:latin typeface="바탕" panose="02030600000101010101" pitchFamily="18" charset="-127"/>
                <a:ea typeface="바탕" panose="02030600000101010101" pitchFamily="18" charset="-127"/>
              </a:rPr>
              <a:t>지성사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지구 과학기술사 </a:t>
            </a:r>
            <a:endParaRPr lang="en-US" altLang="ko-KR" sz="1800" kern="0" dirty="0"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 fontAlgn="base" latinLnBrk="1">
              <a:lnSpc>
                <a:spcPct val="180000"/>
              </a:lnSpc>
              <a:spcBef>
                <a:spcPts val="200"/>
              </a:spcBef>
            </a:pP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‘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얽힘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’(entanglement)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의 정교한 이론화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역사에서 힘의 비대칭성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(preponderance of power asymmetries)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과 연결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(connections)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의 위계적 성격에 주목할 필요 제기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1800" kern="0" spc="0" dirty="0">
              <a:effectLst/>
              <a:latin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4009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B06BB-10CA-4CF8-87BF-DEE832DC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31" y="173477"/>
            <a:ext cx="11474245" cy="77577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IR</a:t>
            </a:r>
            <a:r>
              <a:rPr lang="ko-KR" altLang="en-US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과 </a:t>
            </a:r>
            <a:r>
              <a:rPr lang="en-US" altLang="ko-KR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Global History</a:t>
            </a:r>
            <a:endParaRPr lang="ko-KR" altLang="en-US" sz="4400" b="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997CCE2-8023-40E3-963F-590FCF5D6090}"/>
              </a:ext>
            </a:extLst>
          </p:cNvPr>
          <p:cNvSpPr txBox="1">
            <a:spLocks/>
          </p:cNvSpPr>
          <p:nvPr/>
        </p:nvSpPr>
        <p:spPr>
          <a:xfrm>
            <a:off x="467032" y="1311307"/>
            <a:ext cx="11124604" cy="5126438"/>
          </a:xfr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marR="0" indent="-176213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미국 학계에서 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IR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은 정치과학의 한 분야로 정착하면서 역사학을 그 연구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성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과를 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coding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하거나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데이터를 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mining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하는 수단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또는 이론의 적합성에 관한 사후적 설명 방식으로만 활용함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</a:p>
          <a:p>
            <a:pPr marL="176213" marR="0" indent="-176213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IR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과 글로벌 히스토리 간의 관계는 일본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중국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독일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노르웨이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영국 등 미국 학계 외부에서 보다 진지하게 </a:t>
            </a:r>
            <a:r>
              <a:rPr lang="ko-KR" altLang="en-US" sz="1800" kern="0" spc="0" dirty="0" err="1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탐구되고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있음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marL="176213" marR="0" indent="-176213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글로벌 히스토리는 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‘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역사에 기반한 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IR’(historically informed IR)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내에서 유럽 중심주의 및 </a:t>
            </a:r>
            <a:r>
              <a:rPr lang="ko-KR" altLang="en-US" sz="1800" kern="0" dirty="0" err="1">
                <a:latin typeface="바탕" panose="02030600000101010101" pitchFamily="18" charset="-127"/>
                <a:ea typeface="바탕" panose="02030600000101010101" pitchFamily="18" charset="-127"/>
              </a:rPr>
              <a:t>영역성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(boundedness)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가정에 대해 강력한 비판을 제기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지난 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20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여 년 동안 글로벌 히스토리와 관련된 연구는 전통적인 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‘vanguardist-diffusionist’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모델에 도전하면서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국제질서가 민족과 국가 간에 </a:t>
            </a:r>
            <a:r>
              <a:rPr lang="ko-KR" altLang="en-US" sz="1800" kern="0" dirty="0" err="1">
                <a:latin typeface="바탕" panose="02030600000101010101" pitchFamily="18" charset="-127"/>
                <a:ea typeface="바탕" panose="02030600000101010101" pitchFamily="18" charset="-127"/>
              </a:rPr>
              <a:t>비대칭적이지만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 상호작용하는 관계에 의해 생성된 방식을 보여줌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marL="176213" marR="0" indent="-176213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글로벌 히스토리와 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IR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은 잠재적으로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, (1) 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국경을 초월한 만남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(encounters)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과 얽힘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(entanglement)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의 새로운 </a:t>
            </a:r>
            <a:r>
              <a:rPr lang="ko-KR" altLang="en-US" sz="1800" kern="0" spc="0" dirty="0" err="1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비유럽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중심의 역사를 쓰는 것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, (2) 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이러한 만남이 권력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비대칭성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(power asymmetries)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을 </a:t>
            </a:r>
            <a:r>
              <a:rPr lang="ko-KR" altLang="en-US" sz="1800" kern="0" spc="0" dirty="0" err="1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구조화하는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방식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, (3) 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구조화된 얽힘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(structured entanglement)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의 이론화 등 </a:t>
            </a:r>
            <a:r>
              <a:rPr lang="en-US" altLang="ko-KR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3</a:t>
            </a:r>
            <a:r>
              <a:rPr lang="ko-KR" altLang="en-US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개의 이론적 의제를 공유함</a:t>
            </a:r>
            <a:r>
              <a:rPr lang="en-US" altLang="ko-KR" sz="1800" kern="0" dirty="0"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1800" kern="0" spc="0" dirty="0">
                <a:effectLst/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endParaRPr lang="en-US" altLang="ko-KR" sz="1800" kern="0" spc="0" dirty="0">
              <a:effectLst/>
              <a:latin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6843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B06BB-10CA-4CF8-87BF-DEE832DC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31" y="173477"/>
            <a:ext cx="11474245" cy="77577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World History</a:t>
            </a:r>
            <a:r>
              <a:rPr lang="ko-KR" altLang="en-US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와 </a:t>
            </a:r>
            <a:r>
              <a:rPr lang="en-US" altLang="ko-KR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Global History</a:t>
            </a:r>
            <a:endParaRPr lang="ko-KR" altLang="en-US" sz="4400" b="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997CCE2-8023-40E3-963F-590FCF5D6090}"/>
              </a:ext>
            </a:extLst>
          </p:cNvPr>
          <p:cNvSpPr txBox="1">
            <a:spLocks/>
          </p:cNvSpPr>
          <p:nvPr/>
        </p:nvSpPr>
        <p:spPr>
          <a:xfrm>
            <a:off x="467032" y="1311307"/>
            <a:ext cx="11124604" cy="5126438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marR="0" indent="-176213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World History</a:t>
            </a:r>
          </a:p>
          <a:p>
            <a:pPr marL="0" marR="0" indent="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altLang="ko-KR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- </a:t>
            </a:r>
            <a:r>
              <a:rPr lang="ko-KR" altLang="en-US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주로</a:t>
            </a:r>
            <a:r>
              <a:rPr lang="en-US" altLang="ko-KR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미국 대학</a:t>
            </a:r>
            <a:r>
              <a:rPr lang="en-US" altLang="ko-KR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특히 하와이 대학에서 </a:t>
            </a:r>
            <a:r>
              <a:rPr lang="en-US" altLang="ko-KR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sub field</a:t>
            </a:r>
            <a:r>
              <a:rPr lang="ko-KR" altLang="en-US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부상</a:t>
            </a:r>
            <a:r>
              <a:rPr lang="en-US" altLang="ko-KR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 (Journal of World History)</a:t>
            </a:r>
          </a:p>
          <a:p>
            <a:pPr marL="0" marR="0" indent="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altLang="ko-KR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- </a:t>
            </a:r>
            <a:r>
              <a:rPr lang="ko-KR" altLang="en-US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미국 대학의 학부에서 </a:t>
            </a:r>
            <a:r>
              <a:rPr lang="en-US" altLang="ko-KR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Western Civilization</a:t>
            </a:r>
            <a:r>
              <a:rPr lang="ko-KR" altLang="en-US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을 대체하거나 보완하는 과목으로 활용</a:t>
            </a:r>
            <a:r>
              <a:rPr lang="en-US" altLang="ko-KR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0" marR="0" indent="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altLang="ko-KR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- </a:t>
            </a:r>
            <a:r>
              <a:rPr lang="ko-KR" altLang="en-US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고대사와 중세사 등 장구한 역사를 다루며</a:t>
            </a:r>
            <a:r>
              <a:rPr lang="en-US" altLang="ko-KR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만남</a:t>
            </a:r>
            <a:r>
              <a:rPr lang="en-US" altLang="ko-KR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(encounters)</a:t>
            </a:r>
            <a:r>
              <a:rPr lang="ko-KR" altLang="en-US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 비교</a:t>
            </a:r>
            <a:r>
              <a:rPr lang="en-US" altLang="ko-KR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(comparison)</a:t>
            </a:r>
            <a:r>
              <a:rPr lang="ko-KR" altLang="en-US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강조하는 경향</a:t>
            </a:r>
            <a:r>
              <a:rPr lang="en-US" altLang="ko-KR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0" marR="0" indent="0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lang="en-US" altLang="ko-KR" sz="1800" kern="0" spc="0" dirty="0"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just" fontAlgn="base" latinLnBrk="1">
              <a:lnSpc>
                <a:spcPct val="180000"/>
              </a:lnSpc>
              <a:spcBef>
                <a:spcPts val="200"/>
              </a:spcBef>
            </a:pPr>
            <a:r>
              <a:rPr lang="en-US" altLang="ko-KR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Global History</a:t>
            </a:r>
          </a:p>
          <a:p>
            <a:pPr marL="0" indent="0" algn="just" fontAlgn="base" latinLnBrk="1">
              <a:lnSpc>
                <a:spcPct val="180000"/>
              </a:lnSpc>
              <a:spcBef>
                <a:spcPts val="200"/>
              </a:spcBef>
              <a:buNone/>
            </a:pPr>
            <a:r>
              <a:rPr lang="en-US" altLang="ko-KR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- Oxford, LSE, Warwick</a:t>
            </a:r>
            <a:r>
              <a:rPr lang="ko-KR" altLang="en-US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정착</a:t>
            </a:r>
            <a:r>
              <a:rPr lang="en-US" altLang="ko-KR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 (Journal of Global History)</a:t>
            </a:r>
          </a:p>
          <a:p>
            <a:pPr marL="0" indent="0" algn="just" fontAlgn="base" latinLnBrk="1">
              <a:lnSpc>
                <a:spcPct val="180000"/>
              </a:lnSpc>
              <a:spcBef>
                <a:spcPts val="200"/>
              </a:spcBef>
              <a:buNone/>
            </a:pPr>
            <a:r>
              <a:rPr lang="en-US" altLang="ko-KR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- </a:t>
            </a:r>
            <a:r>
              <a:rPr lang="ko-KR" altLang="en-US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주로 대학원에서 강의</a:t>
            </a:r>
            <a:r>
              <a:rPr lang="en-US" altLang="ko-KR" sz="18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0" indent="0" algn="just" fontAlgn="base" latinLnBrk="1">
              <a:lnSpc>
                <a:spcPct val="180000"/>
              </a:lnSpc>
              <a:spcBef>
                <a:spcPts val="200"/>
              </a:spcBef>
              <a:buNone/>
            </a:pPr>
            <a:r>
              <a:rPr lang="en-US" altLang="ko-KR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- </a:t>
            </a:r>
            <a:r>
              <a:rPr lang="ko-KR" altLang="en-US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최근 </a:t>
            </a:r>
            <a:r>
              <a:rPr lang="en-US" altLang="ko-KR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3~4</a:t>
            </a:r>
            <a:r>
              <a:rPr lang="ko-KR" altLang="en-US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세기 이내의 역사를 다루며</a:t>
            </a:r>
            <a:r>
              <a:rPr lang="en-US" altLang="ko-KR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네트워크와 흐름</a:t>
            </a:r>
            <a:r>
              <a:rPr lang="en-US" altLang="ko-KR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(flow)</a:t>
            </a:r>
            <a:r>
              <a:rPr lang="ko-KR" altLang="en-US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를 강조하는 경향</a:t>
            </a:r>
            <a:r>
              <a:rPr lang="en-US" altLang="ko-KR" sz="18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2107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" y="2909879"/>
            <a:ext cx="353244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6000" kern="0" spc="133" dirty="0">
                <a:solidFill>
                  <a:srgbClr val="FFFFFF"/>
                </a:solidFill>
                <a:latin typeface="Bebas Neue" pitchFamily="34" charset="0"/>
                <a:cs typeface="Bebas Neue" pitchFamily="34" charset="0"/>
              </a:rPr>
              <a:t>Ch.12</a:t>
            </a:r>
            <a:endParaRPr lang="en-US" sz="500" dirty="0"/>
          </a:p>
        </p:txBody>
      </p:sp>
      <p:sp>
        <p:nvSpPr>
          <p:cNvPr id="3" name="Object 3"/>
          <p:cNvSpPr txBox="1"/>
          <p:nvPr/>
        </p:nvSpPr>
        <p:spPr>
          <a:xfrm>
            <a:off x="3358919" y="2520029"/>
            <a:ext cx="8539569" cy="15614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State,</a:t>
            </a:r>
            <a:r>
              <a:rPr lang="ko-KR" altLang="en-US" sz="400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400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Territoriality,</a:t>
            </a:r>
            <a:r>
              <a:rPr lang="ko-KR" altLang="en-US" sz="400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400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and</a:t>
            </a:r>
            <a:r>
              <a:rPr lang="ko-KR" altLang="en-US" sz="400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400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Sovereignty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Jordan Branch &amp; Jan </a:t>
            </a:r>
            <a:r>
              <a:rPr lang="en-US" altLang="ko-KR" sz="2800" dirty="0" err="1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Stockbruegger</a:t>
            </a:r>
            <a:endParaRPr lang="en-US" altLang="ko-KR" sz="28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1001" name="그룹 1001"/>
          <p:cNvGrpSpPr/>
          <p:nvPr/>
        </p:nvGrpSpPr>
        <p:grpSpPr>
          <a:xfrm>
            <a:off x="2065891" y="3393291"/>
            <a:ext cx="2000513" cy="304947"/>
            <a:chOff x="4954394" y="5106869"/>
            <a:chExt cx="2853359" cy="457421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6200000">
              <a:off x="4954394" y="5106869"/>
              <a:ext cx="2853359" cy="4574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9128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B06BB-10CA-4CF8-87BF-DEE832DC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31" y="173477"/>
            <a:ext cx="11474245" cy="77577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State</a:t>
            </a:r>
            <a:endParaRPr lang="ko-KR" altLang="en-US" sz="4400" b="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997CCE2-8023-40E3-963F-590FCF5D6090}"/>
              </a:ext>
            </a:extLst>
          </p:cNvPr>
          <p:cNvSpPr txBox="1">
            <a:spLocks/>
          </p:cNvSpPr>
          <p:nvPr/>
        </p:nvSpPr>
        <p:spPr>
          <a:xfrm>
            <a:off x="467032" y="1311307"/>
            <a:ext cx="11124604" cy="5373216"/>
          </a:xfr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marR="0" indent="-271463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국가 역량</a:t>
            </a: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(state capacity)</a:t>
            </a: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과 영향력 확대</a:t>
            </a: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(reach)</a:t>
            </a: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의 원동력으로서 전쟁에 초점을 맞춘 연구 </a:t>
            </a: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(Tilly, McNeill)</a:t>
            </a:r>
          </a:p>
          <a:p>
            <a:pPr marL="271463" indent="-271463" algn="just" fontAlgn="base" latinLnBrk="1">
              <a:lnSpc>
                <a:spcPct val="180000"/>
              </a:lnSpc>
              <a:spcBef>
                <a:spcPts val="200"/>
              </a:spcBef>
            </a:pP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재산권 집행</a:t>
            </a: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(enforce property rights)</a:t>
            </a: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과 무역 촉진</a:t>
            </a: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(promote trade) </a:t>
            </a: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능력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</a:t>
            </a: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경제적 동인</a:t>
            </a: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(economic driver)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초점을 맞춘 연구 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(Douglass North, Scott Abramson)</a:t>
            </a:r>
          </a:p>
          <a:p>
            <a:pPr marL="271463" indent="-271463" algn="just" fontAlgn="base" latinLnBrk="1">
              <a:lnSpc>
                <a:spcPct val="180000"/>
              </a:lnSpc>
              <a:spcBef>
                <a:spcPts val="200"/>
              </a:spcBef>
            </a:pP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전쟁 수행과 경제적 이해관계의 추구로 인한 제도적 경쟁과 그 속에서 국가 조직이 승리를 거두는 과정에 초점을 맞춘 연구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en-US" altLang="ko-KR" sz="2000" kern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Hendric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2000" kern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Spruyt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) </a:t>
            </a:r>
          </a:p>
          <a:p>
            <a:pPr marL="271463" indent="-271463" algn="just" fontAlgn="base" latinLnBrk="1">
              <a:lnSpc>
                <a:spcPct val="180000"/>
              </a:lnSpc>
              <a:spcBef>
                <a:spcPts val="200"/>
              </a:spcBef>
            </a:pP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관념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(Elias),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문화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(Corrigan and Sayer),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종교사상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(Gorski),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르네상스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및 종교개혁 시기 국가 개념의 출현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(Skinner)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초점을 맞춘 연구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71463" indent="-271463" algn="just" fontAlgn="base" latinLnBrk="1">
              <a:lnSpc>
                <a:spcPct val="180000"/>
              </a:lnSpc>
              <a:spcBef>
                <a:spcPts val="200"/>
              </a:spcBef>
            </a:pP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국가의 서로 다른 측면에 초점을 맞추고 있으며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유럽 중심적 모델에서 벗어나지 못하는 한계가 있음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2000" kern="0" spc="0" dirty="0"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6888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B06BB-10CA-4CF8-87BF-DEE832DC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31" y="173477"/>
            <a:ext cx="11474245" cy="77577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Sovereignty</a:t>
            </a:r>
            <a:endParaRPr lang="ko-KR" altLang="en-US" sz="4400" b="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997CCE2-8023-40E3-963F-590FCF5D6090}"/>
              </a:ext>
            </a:extLst>
          </p:cNvPr>
          <p:cNvSpPr txBox="1">
            <a:spLocks/>
          </p:cNvSpPr>
          <p:nvPr/>
        </p:nvSpPr>
        <p:spPr>
          <a:xfrm>
            <a:off x="467032" y="1311307"/>
            <a:ext cx="11160524" cy="5213671"/>
          </a:xfr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marR="0" indent="-271463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IR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내에선 상수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(constant)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아닌 변수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(variable)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로서의 주권을 강조한 </a:t>
            </a:r>
            <a:r>
              <a:rPr lang="en-US" altLang="ko-KR" sz="2000" kern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Barkin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 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Cronin(1994)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연구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구성적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(constitutive)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이며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기능적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(functional)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측면에서 주권을 하나의 제도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(institution)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개념화한 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Thompson(1994)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연구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주권의 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4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개의 차원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(dimension)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분화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(differentiation)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탐구한 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Krasner(1999)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연구가 있음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Bull(1977)</a:t>
            </a: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과 </a:t>
            </a: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Wight(1977) </a:t>
            </a: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등 영국학파는 국제체제의 역사적 변천을 인정하면서</a:t>
            </a: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공유된 규범이나 정체성 등 체제적 특징의 출현과 변화 과정을 강조</a:t>
            </a: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구성주의 연구는 국제체제를 규정하는 관념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(ideas)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 행위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(practices)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초점을 두며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국제정치의 무정부 가정에 이의를 제기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en-US" altLang="ko-KR" sz="2000" kern="0" spc="0" dirty="0"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근대국제질서와 근본적으로 다른 방식으로 기능하며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관념과 관행을 가진 대안적 구조의 탐구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주권과 유럽 국가 시스템 출현의 배경으로서 식민지 및 </a:t>
            </a:r>
            <a:r>
              <a:rPr lang="ko-KR" altLang="en-US" sz="2000" kern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비유럽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공간에 대한 주목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2000" kern="0" spc="0" dirty="0"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3703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B06BB-10CA-4CF8-87BF-DEE832DC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31" y="173477"/>
            <a:ext cx="11474245" cy="77577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Territoriality</a:t>
            </a:r>
            <a:endParaRPr lang="ko-KR" altLang="en-US" sz="4400" b="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997CCE2-8023-40E3-963F-590FCF5D6090}"/>
              </a:ext>
            </a:extLst>
          </p:cNvPr>
          <p:cNvSpPr txBox="1">
            <a:spLocks/>
          </p:cNvSpPr>
          <p:nvPr/>
        </p:nvSpPr>
        <p:spPr>
          <a:xfrm>
            <a:off x="467032" y="1311307"/>
            <a:ext cx="11160524" cy="5213671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1945</a:t>
            </a: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년 이후 </a:t>
            </a: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IR</a:t>
            </a: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이 분과학문으로 성장하는 동안 영토는 주된 연구대상에서 배제된 결과</a:t>
            </a: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정치적 지배가 항상 근대국가의 영토적 배타성에 의해 정의되었으며</a:t>
            </a: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오랫동안 존재해 온 세계화와 분열</a:t>
            </a:r>
            <a:r>
              <a:rPr lang="en-US" altLang="ko-KR" sz="20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(fragmentation)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간과하는 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영토의 함정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(Territorial Trap)’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빠짐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.(Taylor 1994)</a:t>
            </a: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이후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구성주의 연구에 의해 이 개념이 새로 부각됨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en-US" altLang="ko-KR" sz="2000" kern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Kratochwil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(1986), </a:t>
            </a:r>
            <a:r>
              <a:rPr lang="en-US" altLang="ko-KR" sz="2000" kern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Ruggie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(1993).</a:t>
            </a: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r>
              <a:rPr lang="ko-KR" altLang="en-US" sz="2000" kern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비유럽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세계에서의 정치적 지배 및 정체성과 영토와의 관계를 추적한 연구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en-US" altLang="ko-KR" sz="2000" kern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Thonchai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1994).</a:t>
            </a: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유럽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외부와의 관계와 근대 유럽의 영토 개념의 출현 간의 관계에 주목한 연구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en-US" altLang="ko-KR" sz="2000" kern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Kayaoglu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2007; Branch 2012; Herzog 2015)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en-US" altLang="ko-KR" sz="2000" kern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endParaRPr lang="ko-KR" altLang="en-US" sz="2000" kern="0" spc="0" dirty="0"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1874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B06BB-10CA-4CF8-87BF-DEE832DC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31" y="173477"/>
            <a:ext cx="11474245" cy="77577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향후 과제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997CCE2-8023-40E3-963F-590FCF5D6090}"/>
              </a:ext>
            </a:extLst>
          </p:cNvPr>
          <p:cNvSpPr txBox="1">
            <a:spLocks/>
          </p:cNvSpPr>
          <p:nvPr/>
        </p:nvSpPr>
        <p:spPr>
          <a:xfrm>
            <a:off x="467032" y="1311307"/>
            <a:ext cx="11160524" cy="5213671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r>
              <a:rPr lang="ko-KR" altLang="en-US" sz="24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국가</a:t>
            </a:r>
            <a:r>
              <a:rPr lang="en-US" altLang="ko-KR" sz="24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4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영토</a:t>
            </a:r>
            <a:r>
              <a:rPr lang="en-US" altLang="ko-KR" sz="24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4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주권이라는 </a:t>
            </a:r>
            <a:r>
              <a:rPr lang="en-US" altLang="ko-KR" sz="24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3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개의 중첩된 개념 중에서 자신의 연구대상을 확정하고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그것이 어떻게 연결되어 있는지 보다 명확하게 파악할 필요가 있음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ko-KR" sz="24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IR</a:t>
            </a:r>
            <a:r>
              <a:rPr lang="ko-KR" altLang="en-US" sz="24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의 암묵적 전제인 유럽중심적 편향과 프레임의 극복</a:t>
            </a:r>
            <a:endParaRPr lang="en-US" altLang="ko-KR" sz="2400" kern="0" spc="0" dirty="0"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시대착오성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(anachronism)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일반화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(generalizability)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한계라는 두 가지 문제의 극복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endParaRPr lang="ko-KR" altLang="en-US" sz="2400" kern="0" spc="0" dirty="0"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5606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3886" y="2759867"/>
            <a:ext cx="3532449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8000" kern="0" spc="133" dirty="0">
                <a:solidFill>
                  <a:srgbClr val="FFFFFF"/>
                </a:solidFill>
                <a:latin typeface="Bebas Neue" pitchFamily="34" charset="0"/>
                <a:cs typeface="Bebas Neue" pitchFamily="34" charset="0"/>
              </a:rPr>
              <a:t>Ch.21</a:t>
            </a:r>
            <a:endParaRPr lang="en-US" sz="800" dirty="0"/>
          </a:p>
        </p:txBody>
      </p:sp>
      <p:sp>
        <p:nvSpPr>
          <p:cNvPr id="3" name="Object 3"/>
          <p:cNvSpPr txBox="1"/>
          <p:nvPr/>
        </p:nvSpPr>
        <p:spPr>
          <a:xfrm>
            <a:off x="4982595" y="1760773"/>
            <a:ext cx="8539569" cy="26119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20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Nationalism</a:t>
            </a:r>
            <a:endParaRPr lang="en-US" altLang="ko-KR" sz="6000" spc="-15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400" spc="-15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James Mayall</a:t>
            </a:r>
            <a:endParaRPr lang="en-US" altLang="ko-KR" sz="32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1001" name="그룹 1001"/>
          <p:cNvGrpSpPr/>
          <p:nvPr/>
        </p:nvGrpSpPr>
        <p:grpSpPr>
          <a:xfrm>
            <a:off x="3425727" y="3269113"/>
            <a:ext cx="2000513" cy="304947"/>
            <a:chOff x="4954394" y="5106869"/>
            <a:chExt cx="2853359" cy="457421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6200000">
              <a:off x="4954394" y="5106869"/>
              <a:ext cx="2853359" cy="4574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3202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B06BB-10CA-4CF8-87BF-DEE832DC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31" y="173477"/>
            <a:ext cx="11474245" cy="77577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Legacy of Western Hegemony</a:t>
            </a:r>
            <a:endParaRPr lang="ko-KR" altLang="en-US" sz="4400" b="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997CCE2-8023-40E3-963F-590FCF5D6090}"/>
              </a:ext>
            </a:extLst>
          </p:cNvPr>
          <p:cNvSpPr txBox="1">
            <a:spLocks/>
          </p:cNvSpPr>
          <p:nvPr/>
        </p:nvSpPr>
        <p:spPr>
          <a:xfrm>
            <a:off x="467032" y="1311307"/>
            <a:ext cx="11160524" cy="5213671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근대 내셔널리즘에 내재된 모순 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계몽주의적 가치와 민족 해방의 대의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r>
              <a:rPr lang="ko-KR" altLang="en-US" sz="24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반식민</a:t>
            </a:r>
            <a:r>
              <a:rPr lang="en-US" altLang="ko-KR" sz="24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(anti-colonial)</a:t>
            </a:r>
            <a:r>
              <a:rPr lang="ko-KR" altLang="en-US" sz="2400" kern="0" spc="0" dirty="0"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내셔널리즘</a:t>
            </a:r>
            <a:endParaRPr lang="en-US" altLang="ko-KR" sz="2400" kern="0" spc="0" dirty="0"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801688" lvl="1" indent="-344488" algn="just" fontAlgn="base" latinLnBrk="1">
              <a:lnSpc>
                <a:spcPct val="180000"/>
              </a:lnSpc>
              <a:spcBef>
                <a:spcPts val="1200"/>
              </a:spcBef>
              <a:buNone/>
            </a:pP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-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식민지 엘리트들은 교육받은 보편적 가치에 기초해서 전통적인 농업 및 신분사회를 분화된 경제시스템을 갖춘 근대국가로 </a:t>
            </a:r>
            <a:r>
              <a:rPr lang="ko-KR" altLang="en-US" sz="2000" kern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변모시키고자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함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801688" lvl="1" indent="-344488" algn="just" fontAlgn="base" latinLnBrk="1">
              <a:lnSpc>
                <a:spcPct val="180000"/>
              </a:lnSpc>
              <a:spcBef>
                <a:spcPts val="1200"/>
              </a:spcBef>
              <a:buNone/>
            </a:pP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-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반식민 내셔널리즘이 근대화 경로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(modernizing course)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밟게 된 데는 이외에도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(1)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일본과 터키의 성공사례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(2) proto-nation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부재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(3) </a:t>
            </a:r>
            <a:r>
              <a:rPr lang="ko-KR" altLang="en-US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국제사회의 제도화 및 세계질서에 대한 미국의 영향력 확산 등의 요인이 있었음</a:t>
            </a:r>
            <a:r>
              <a:rPr lang="en-US" altLang="ko-KR" sz="20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5713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B06BB-10CA-4CF8-87BF-DEE832DC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31" y="173477"/>
            <a:ext cx="11474245" cy="77577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Modernist/ </a:t>
            </a:r>
            <a:r>
              <a:rPr lang="en-US" altLang="ko-KR" sz="4400" b="0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Primordialist</a:t>
            </a:r>
            <a:endParaRPr lang="ko-KR" altLang="en-US" sz="4400" b="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997CCE2-8023-40E3-963F-590FCF5D6090}"/>
              </a:ext>
            </a:extLst>
          </p:cNvPr>
          <p:cNvSpPr txBox="1">
            <a:spLocks/>
          </p:cNvSpPr>
          <p:nvPr/>
        </p:nvSpPr>
        <p:spPr>
          <a:xfrm>
            <a:off x="467032" y="1311307"/>
            <a:ext cx="11160524" cy="5213671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내셔널리즘 연구는 파시즘과 나치즘의 기억으로 인해 제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2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차 세계대전 이후 사실상 </a:t>
            </a:r>
            <a:r>
              <a:rPr lang="ko-KR" altLang="en-US" sz="2400" kern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방기됨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그것이 다시 진지한 학문적 논쟁과 검토의 대상이 된 것은 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LSE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에서의 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Elie </a:t>
            </a:r>
            <a:r>
              <a:rPr lang="en-US" altLang="ko-KR" sz="2400" kern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Kedourie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Ernest Geller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우연한 만남이 계기가 되었음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Ernest Geller(1964, 1983, 1997)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Benedict Anderson(1983)</a:t>
            </a: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endParaRPr lang="en-US" altLang="ko-KR" sz="2000" kern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2127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B06BB-10CA-4CF8-87BF-DEE832DC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31" y="173477"/>
            <a:ext cx="11474245" cy="77577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4400" b="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Nationalism and International Society</a:t>
            </a:r>
            <a:endParaRPr lang="ko-KR" altLang="en-US" sz="4400" b="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997CCE2-8023-40E3-963F-590FCF5D6090}"/>
              </a:ext>
            </a:extLst>
          </p:cNvPr>
          <p:cNvSpPr txBox="1">
            <a:spLocks/>
          </p:cNvSpPr>
          <p:nvPr/>
        </p:nvSpPr>
        <p:spPr>
          <a:xfrm>
            <a:off x="467032" y="1311307"/>
            <a:ext cx="11160524" cy="5213671"/>
          </a:xfr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내셔널리즘은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근대주의 프로젝트의 핵심으로서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국가를 시민들의 정치적 공동체로 정의하는 사람들과 민족의 고유한 정체성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심지어 공통의 종족적 혈통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(racial ancestry)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근거해야 한다고 주장하는 사람들 간의 갈등을 내포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민족에 관한 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ethnic definition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분리주의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민족분규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등의 갈등을 야기한 반면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civic definition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강요하려는 시도는 인간의 완고한 본성에 가로막혀 종종 실패로 </a:t>
            </a:r>
            <a:r>
              <a:rPr lang="ko-KR" altLang="en-US" sz="2400" kern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돌아감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en-US" altLang="ko-KR" sz="2400" kern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Anthony Smith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양자 사이에서 중간 지점을 찾으려는 노력을 전개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  <a:p>
            <a:pPr marL="271463" marR="0" indent="-271463" algn="just" fontAlgn="base" latinLnBrk="1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20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세기 이후 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Nationalism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자유주의와 사회주의라는 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2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개의 근대성 모델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(model of modernity)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결합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 1989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년 한 모델의 붕괴와 다른 모델의 거짓 승리는 공동체적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종교적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민족적 갈등의 무한한 가능성을 열었으며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민족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-</a:t>
            </a:r>
            <a:r>
              <a:rPr lang="ko-KR" altLang="en-US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국가의 미래를 매우 불확실하게 만들었음</a:t>
            </a:r>
            <a:r>
              <a:rPr lang="en-US" altLang="ko-KR" sz="2400" kern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2000" kern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8103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LPPT-215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680C3"/>
      </a:accent1>
      <a:accent2>
        <a:srgbClr val="07A398"/>
      </a:accent2>
      <a:accent3>
        <a:srgbClr val="90C221"/>
      </a:accent3>
      <a:accent4>
        <a:srgbClr val="FBA200"/>
      </a:accent4>
      <a:accent5>
        <a:srgbClr val="E62601"/>
      </a:accent5>
      <a:accent6>
        <a:srgbClr val="2C2F45"/>
      </a:accent6>
      <a:hlink>
        <a:srgbClr val="0000FF"/>
      </a:hlink>
      <a:folHlink>
        <a:srgbClr val="800080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16477</TotalTime>
  <Words>1187</Words>
  <Application>Microsoft Office PowerPoint</Application>
  <PresentationFormat>와이드스크린</PresentationFormat>
  <Paragraphs>72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HY신명조</vt:lpstr>
      <vt:lpstr>HY헤드라인M</vt:lpstr>
      <vt:lpstr>맑은 고딕</vt:lpstr>
      <vt:lpstr>바탕</vt:lpstr>
      <vt:lpstr>Arial</vt:lpstr>
      <vt:lpstr>Bebas Neue</vt:lpstr>
      <vt:lpstr>Office Theme</vt:lpstr>
      <vt:lpstr>PowerPoint 프레젠테이션</vt:lpstr>
      <vt:lpstr>Global Histories</vt:lpstr>
      <vt:lpstr>Global Histories – Clusters of issues</vt:lpstr>
      <vt:lpstr>IR과 Global History</vt:lpstr>
      <vt:lpstr>World History와 Global History</vt:lpstr>
      <vt:lpstr>PowerPoint 프레젠테이션</vt:lpstr>
      <vt:lpstr>State</vt:lpstr>
      <vt:lpstr>Sovereignty</vt:lpstr>
      <vt:lpstr>Territoriality</vt:lpstr>
      <vt:lpstr>향후 과제</vt:lpstr>
      <vt:lpstr>PowerPoint 프레젠테이션</vt:lpstr>
      <vt:lpstr>Legacy of Western Hegemony</vt:lpstr>
      <vt:lpstr>Modernist/ Primordialist</vt:lpstr>
      <vt:lpstr>Nationalism and International Society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Jong-Hak Kim</cp:lastModifiedBy>
  <cp:revision>112</cp:revision>
  <cp:lastPrinted>2023-12-05T21:08:45Z</cp:lastPrinted>
  <dcterms:created xsi:type="dcterms:W3CDTF">2018-02-18T19:39:47Z</dcterms:created>
  <dcterms:modified xsi:type="dcterms:W3CDTF">2023-12-15T01:10:17Z</dcterms:modified>
</cp:coreProperties>
</file>